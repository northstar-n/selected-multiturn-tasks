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February HS 29 continuity refresh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/>
            </a:pPr>
            <a:r>
              <a:t>Record population enumerated: 1,514 catalog records.</a:t>
            </a:r>
          </a:p>
          <a:p>
            <a:pPr>
              <a:defRPr sz="2400"/>
            </a:pPr>
            <a:r>
              <a:t>2024 export forecast: $9.80B under MODEL-BRIDGE-23-03.</a:t>
            </a:r>
          </a:p>
          <a:p>
            <a:pPr>
              <a:defRPr sz="2400"/>
            </a:pPr>
            <a:r>
              <a:t>Top continuity watch: ERP-OC-1042 at GBP 35,047.98, with CR-2219 exception.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coverage and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5486400" cy="5212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Official all-world total rows drive the headline trend.</a:t>
            </a:r>
          </a:p>
          <a:p>
            <a:pPr>
              <a:defRPr sz="2000"/>
            </a:pPr>
            <a:r>
              <a:t>2015-2017 real volume component: -27.70%.</a:t>
            </a:r>
          </a:p>
          <a:p>
            <a:pPr>
              <a:defRPr sz="2000"/>
            </a:pPr>
            <a:r>
              <a:t>2020 disruption: -19.90% versus the 2019 bridge baseline.</a:t>
            </a:r>
          </a:p>
          <a:p>
            <a:pPr>
              <a:defRPr sz="2000"/>
            </a:pPr>
            <a:r>
              <a:t>Invalid Census and empty BLS evidence are excluded.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2023290"/>
            <a:ext cx="411480" cy="3280229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27648" y="5394960"/>
            <a:ext cx="7498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ptos"/>
              </a:rPr>
              <a:t>2019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2675931"/>
            <a:ext cx="411480" cy="26275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59168" y="5394960"/>
            <a:ext cx="7498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ptos"/>
              </a:rPr>
              <a:t>2020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943031"/>
            <a:ext cx="411480" cy="3360488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90688" y="5394960"/>
            <a:ext cx="7498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ptos"/>
              </a:rPr>
              <a:t>2021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0" y="1463040"/>
            <a:ext cx="411480" cy="384048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22208" y="5394960"/>
            <a:ext cx="7498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ptos"/>
              </a:rPr>
              <a:t>2022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2185638"/>
            <a:ext cx="411480" cy="3117881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53728" y="5394960"/>
            <a:ext cx="7498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ptos"/>
              </a:rPr>
              <a:t>2023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0" y="2597516"/>
            <a:ext cx="411480" cy="2706003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85248" y="5394960"/>
            <a:ext cx="74980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1F2937"/>
                </a:solidFill>
                <a:latin typeface="Aptos"/>
              </a:rPr>
              <a:t>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Tier chain and exposure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2011680" cy="914400"/>
          </a:xfrm>
          <a:prstGeom prst="roundRect">
            <a:avLst/>
          </a:prstGeom>
          <a:solidFill>
            <a:srgbClr val="EDF3F9"/>
          </a:solidFill>
          <a:ln w="15875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7365D"/>
                </a:solidFill>
                <a:latin typeface="Aptos"/>
              </a:rPr>
              <a:t>Atlas Nitriles</a:t>
            </a:r>
          </a:p>
          <a:p>
            <a:pPr algn="ctr"/>
            <a:r>
              <a:rPr sz="1400" b="0">
                <a:solidFill>
                  <a:srgbClr val="17365D"/>
                </a:solidFill>
                <a:latin typeface="Aptos"/>
              </a:rPr>
              <a:t>ATN-044</a:t>
            </a:r>
          </a:p>
          <a:p>
            <a:pPr algn="ctr"/>
            <a:r>
              <a:rPr sz="1400" b="0">
                <a:solidFill>
                  <a:srgbClr val="17365D"/>
                </a:solidFill>
                <a:latin typeface="Aptos"/>
              </a:rPr>
              <a:t>58% throughput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828800"/>
            <a:ext cx="2011680" cy="914400"/>
          </a:xfrm>
          <a:prstGeom prst="roundRect">
            <a:avLst/>
          </a:prstGeom>
          <a:solidFill>
            <a:srgbClr val="EDF3F9"/>
          </a:solidFill>
          <a:ln w="15875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7365D"/>
                </a:solidFill>
                <a:latin typeface="Aptos"/>
              </a:rPr>
              <a:t>Boreal Cyanates</a:t>
            </a:r>
          </a:p>
          <a:p>
            <a:pPr algn="ctr"/>
            <a:r>
              <a:rPr sz="1400" b="0">
                <a:solidFill>
                  <a:srgbClr val="17365D"/>
                </a:solidFill>
                <a:latin typeface="Aptos"/>
              </a:rPr>
              <a:t>BCY-118</a:t>
            </a:r>
          </a:p>
          <a:p>
            <a:pPr algn="ctr"/>
            <a:r>
              <a:rPr sz="1400" b="0">
                <a:solidFill>
                  <a:srgbClr val="17365D"/>
                </a:solidFill>
                <a:latin typeface="Aptos"/>
              </a:rPr>
              <a:t>0.64 dependency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828800"/>
            <a:ext cx="2011680" cy="914400"/>
          </a:xfrm>
          <a:prstGeom prst="roundRect">
            <a:avLst/>
          </a:prstGeom>
          <a:solidFill>
            <a:srgbClr val="EDF3F9"/>
          </a:solidFill>
          <a:ln w="15875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7365D"/>
                </a:solidFill>
                <a:latin typeface="Aptos"/>
              </a:rPr>
              <a:t>MiraSolv Europe</a:t>
            </a:r>
          </a:p>
          <a:p>
            <a:pPr algn="ctr"/>
            <a:r>
              <a:rPr sz="1400" b="0">
                <a:solidFill>
                  <a:srgbClr val="17365D"/>
                </a:solidFill>
                <a:latin typeface="Aptos"/>
              </a:rPr>
              <a:t>MRS-884</a:t>
            </a:r>
          </a:p>
          <a:p>
            <a:pPr algn="ctr"/>
            <a:r>
              <a:rPr sz="1400" b="0">
                <a:solidFill>
                  <a:srgbClr val="17365D"/>
                </a:solidFill>
                <a:latin typeface="Aptos"/>
              </a:rPr>
              <a:t>0.72 dependency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1828800"/>
            <a:ext cx="2011680" cy="914400"/>
          </a:xfrm>
          <a:prstGeom prst="roundRect">
            <a:avLst/>
          </a:prstGeom>
          <a:solidFill>
            <a:srgbClr val="EDF3F9"/>
          </a:solidFill>
          <a:ln w="15875"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7365D"/>
                </a:solidFill>
                <a:latin typeface="Aptos"/>
              </a:rPr>
              <a:t>ERP-OC-1042</a:t>
            </a:r>
          </a:p>
          <a:p>
            <a:pPr algn="ctr"/>
            <a:r>
              <a:rPr sz="1400" b="0">
                <a:solidFill>
                  <a:srgbClr val="17365D"/>
                </a:solidFill>
                <a:latin typeface="Aptos"/>
              </a:rPr>
              <a:t>PO-2022-10488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Risk-adjusted exposure = GBP 35,047.98; naive skip-tier method would show GBP 74,562.16.</a:t>
            </a:r>
          </a:p>
        </p:txBody>
      </p:sp>
      <p:sp>
        <p:nvSpPr>
          <p:cNvPr id="8" name="Chevron 7"/>
          <p:cNvSpPr/>
          <p:nvPr/>
        </p:nvSpPr>
        <p:spPr>
          <a:xfrm>
            <a:off x="2816352" y="2084831"/>
            <a:ext cx="347472" cy="384048"/>
          </a:xfrm>
          <a:prstGeom prst="chevron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evron 8"/>
          <p:cNvSpPr/>
          <p:nvPr/>
        </p:nvSpPr>
        <p:spPr>
          <a:xfrm>
            <a:off x="5925312" y="2084831"/>
            <a:ext cx="347472" cy="384048"/>
          </a:xfrm>
          <a:prstGeom prst="chevron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8887968" y="2084831"/>
            <a:ext cx="347472" cy="384048"/>
          </a:xfrm>
          <a:prstGeom prst="chevron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/>
            </a:pPr>
            <a:r>
              <a:t>Recommended action: keep ERP-OC-1042 on continuity watch and carry the finance reserve.</a:t>
            </a:r>
          </a:p>
          <a:p>
            <a:pPr>
              <a:defRPr sz="2200"/>
            </a:pPr>
            <a:r>
              <a:t>Supplier-policy violations: 0 because CR-2219 covers MRS-884 through 2023-01-06.</a:t>
            </a:r>
          </a:p>
          <a:p>
            <a:pPr>
              <a:defRPr sz="2200"/>
            </a:pPr>
            <a:r>
              <a:t>Next owner: logistics planning to confirm PO-2022-10488 receipt closure after the January 5 dock date.</a:t>
            </a:r>
          </a:p>
          <a:p>
            <a:pPr>
              <a:defRPr sz="2200"/>
            </a:pPr>
            <a:r>
              <a:t>Rejected alternatives: route-row stacking, zero-fill missing trade years, and treating MRS-884 as a violation.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