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technical_findings_matrix.xlsx#Calculations!O71" TargetMode="External"/><Relationship Id="rId3" Type="http://schemas.openxmlformats.org/officeDocument/2006/relationships/hyperlink" Target="technical_findings_matrix.xlsx#Calculations!O72" TargetMode="External"/><Relationship Id="rId4" Type="http://schemas.openxmlformats.org/officeDocument/2006/relationships/hyperlink" Target="technical_findings_matrix.xlsx#Calculations!O73" TargetMode="External"/><Relationship Id="rId5" Type="http://schemas.openxmlformats.org/officeDocument/2006/relationships/hyperlink" Target="technical_findings_matrix.xlsx#Calculations!O74" TargetMode="External"/><Relationship Id="rId6" Type="http://schemas.openxmlformats.org/officeDocument/2006/relationships/hyperlink" Target="technical_findings_matrix.xlsx#Calculations!O75" TargetMode="External"/><Relationship Id="rId7" Type="http://schemas.openxmlformats.org/officeDocument/2006/relationships/hyperlink" Target="technical_findings_matrix.xlsx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technical_findings_matrix.xlsx#Calculations!O71" TargetMode="External"/><Relationship Id="rId3" Type="http://schemas.openxmlformats.org/officeDocument/2006/relationships/hyperlink" Target="technical_findings_matrix.xlsx#Calculations!O72" TargetMode="External"/><Relationship Id="rId4" Type="http://schemas.openxmlformats.org/officeDocument/2006/relationships/hyperlink" Target="technical_findings_matrix.xlsx#Calculations!O73" TargetMode="External"/><Relationship Id="rId5" Type="http://schemas.openxmlformats.org/officeDocument/2006/relationships/hyperlink" Target="technical_findings_matrix.xlsx#Calculations!O74" TargetMode="External"/><Relationship Id="rId6" Type="http://schemas.openxmlformats.org/officeDocument/2006/relationships/hyperlink" Target="technical_findings_matrix.xlsx#Calculations!O75" TargetMode="External"/><Relationship Id="rId7" Type="http://schemas.openxmlformats.org/officeDocument/2006/relationships/hyperlink" Target="technical_findings_matrix.xlsx#Calculations!I74:O74" TargetMode="External"/><Relationship Id="rId8" Type="http://schemas.openxmlformats.org/officeDocument/2006/relationships/hyperlink" Target="technical_findings_matrix.xlsx#Calculations!L72:O72" TargetMode="External"/><Relationship Id="rId9" Type="http://schemas.openxmlformats.org/officeDocument/2006/relationships/hyperlink" Target="technical_findings_matrix.xlsx#Calculations!I75:O75" TargetMode="External"/><Relationship Id="rId10" Type="http://schemas.openxmlformats.org/officeDocument/2006/relationships/hyperlink" Target="technical_findings_matrix.xlsx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technical_findings_matrix.xlsx#Calculations!P5" TargetMode="External"/><Relationship Id="rId3" Type="http://schemas.openxmlformats.org/officeDocument/2006/relationships/hyperlink" Target="technical_findings_matrix.xlsx#Calculations!C21:E21" TargetMode="External"/><Relationship Id="rId4" Type="http://schemas.openxmlformats.org/officeDocument/2006/relationships/hyperlink" Target="technical_findings_matrix.xlsx#Calculations!F21:H21" TargetMode="External"/><Relationship Id="rId5" Type="http://schemas.openxmlformats.org/officeDocument/2006/relationships/hyperlink" Target="technical_findings_matrix.xlsx#Calculations!J21" TargetMode="External"/><Relationship Id="rId6" Type="http://schemas.openxmlformats.org/officeDocument/2006/relationships/hyperlink" Target="technical_findings_matrix.xlsx#Calculations!L21" TargetMode="External"/><Relationship Id="rId7" Type="http://schemas.openxmlformats.org/officeDocument/2006/relationships/hyperlink" Target="technical_findings_matrix.xlsx#Calculations!J46" TargetMode="External"/><Relationship Id="rId8" Type="http://schemas.openxmlformats.org/officeDocument/2006/relationships/hyperlink" Target="technical_findings_matrix.xlsx#Calculations!I63" TargetMode="External"/><Relationship Id="rId9" Type="http://schemas.openxmlformats.org/officeDocument/2006/relationships/hyperlink" Target="technical_findings_matrix.xlsx#Calculations!F74:L74" TargetMode="External"/><Relationship Id="rId10" Type="http://schemas.openxmlformats.org/officeDocument/2006/relationships/hyperlink" Target="technical_findings_matrix.xlsx#Calculations!O74:P74" TargetMode="External"/><Relationship Id="rId11" Type="http://schemas.openxmlformats.org/officeDocument/2006/relationships/hyperlink" Target="technical_findings_matrix.xlsx#Calculations!O74" TargetMode="External"/><Relationship Id="rId12" Type="http://schemas.openxmlformats.org/officeDocument/2006/relationships/hyperlink" Target="technical_findings_matrix.xlsx#Calculations!P74" TargetMode="External"/><Relationship Id="rId13" Type="http://schemas.openxmlformats.org/officeDocument/2006/relationships/hyperlink" Target="technical_findings_matrix.xlsx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technical_findings_matrix.xlsx#Scenarios!R4:S4" TargetMode="External"/><Relationship Id="rId3" Type="http://schemas.openxmlformats.org/officeDocument/2006/relationships/hyperlink" Target="technical_findings_matrix.xlsx#Scenarios!W4:X4" TargetMode="External"/><Relationship Id="rId4" Type="http://schemas.openxmlformats.org/officeDocument/2006/relationships/hyperlink" Target="technical_findings_matrix.xlsx#Scenarios!A5:X5" TargetMode="External"/><Relationship Id="rId5" Type="http://schemas.openxmlformats.org/officeDocument/2006/relationships/hyperlink" Target="technical_findings_matrix.xlsx#Scenarios!A5" TargetMode="External"/><Relationship Id="rId6" Type="http://schemas.openxmlformats.org/officeDocument/2006/relationships/hyperlink" Target="technical_findings_matrix.xlsx#Scenarios!R5:S5" TargetMode="External"/><Relationship Id="rId7" Type="http://schemas.openxmlformats.org/officeDocument/2006/relationships/hyperlink" Target="technical_findings_matrix.xlsx#Scenarios!W5:X5" TargetMode="External"/><Relationship Id="rId8" Type="http://schemas.openxmlformats.org/officeDocument/2006/relationships/hyperlink" Target="technical_findings_matrix.xlsx#Scenarios!A6:X6" TargetMode="External"/><Relationship Id="rId9" Type="http://schemas.openxmlformats.org/officeDocument/2006/relationships/hyperlink" Target="technical_findings_matrix.xlsx#Scenarios!A6" TargetMode="External"/><Relationship Id="rId10" Type="http://schemas.openxmlformats.org/officeDocument/2006/relationships/hyperlink" Target="technical_findings_matrix.xlsx#Scenarios!R6:S6" TargetMode="External"/><Relationship Id="rId11" Type="http://schemas.openxmlformats.org/officeDocument/2006/relationships/hyperlink" Target="technical_findings_matrix.xlsx#Scenarios!W6:X6" TargetMode="External"/><Relationship Id="rId12" Type="http://schemas.openxmlformats.org/officeDocument/2006/relationships/hyperlink" Target="technical_findings_matrix.xlsx#Scenarios!A7:X7" TargetMode="External"/><Relationship Id="rId13" Type="http://schemas.openxmlformats.org/officeDocument/2006/relationships/hyperlink" Target="technical_findings_matrix.xlsx#Scenarios!A7" TargetMode="External"/><Relationship Id="rId14" Type="http://schemas.openxmlformats.org/officeDocument/2006/relationships/hyperlink" Target="technical_findings_matrix.xlsx#Scenarios!R7:S7" TargetMode="External"/><Relationship Id="rId15" Type="http://schemas.openxmlformats.org/officeDocument/2006/relationships/hyperlink" Target="technical_findings_matrix.xlsx#Scenarios!W7:X7" TargetMode="External"/><Relationship Id="rId16" Type="http://schemas.openxmlformats.org/officeDocument/2006/relationships/hyperlink" Target="technical_findings_matrix.xlsx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8638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E0975C"/>
                </a:solidFill>
                <a:latin typeface="Aptos"/>
              </a:rPr>
              <a:t>QUALIFICATION READOUT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700" b="1">
                <a:solidFill>
                  <a:srgbClr val="F7F9FA"/>
                </a:solidFill>
                <a:latin typeface="Aptos"/>
              </a:rPr>
              <a:t>Five lots. One model-derived risk landscape.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100" b="1">
                <a:solidFill>
                  <a:srgbClr val="96AAB8"/>
                </a:solidFill>
                <a:latin typeface="Aptos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0991088" cy="18288"/>
          </a:xfrm>
          <a:prstGeom prst="rect">
            <a:avLst/>
          </a:prstGeom>
          <a:solidFill>
            <a:srgbClr val="39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37160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96AAB8"/>
                </a:solidFill>
                <a:latin typeface="Aptos"/>
              </a:rPr>
              <a:t>Configured thresholds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39112" y="1325880"/>
            <a:ext cx="1298448" cy="310896"/>
          </a:xfrm>
          <a:prstGeom prst="roundRect">
            <a:avLst/>
          </a:prstGeom>
          <a:solidFill>
            <a:srgbClr val="EB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39112" y="1344168"/>
            <a:ext cx="1298448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0F2337"/>
                </a:solidFill>
                <a:latin typeface="Aptos"/>
              </a:rPr>
              <a:t>CONDITIONAL ≥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325880"/>
            <a:ext cx="1005840" cy="310896"/>
          </a:xfrm>
          <a:prstGeom prst="roundRect">
            <a:avLst/>
          </a:prstGeom>
          <a:solidFill>
            <a:srgbClr val="D5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1344168"/>
            <a:ext cx="1005840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7F9FA"/>
                </a:solidFill>
                <a:latin typeface="Aptos"/>
              </a:rPr>
              <a:t>HOLD ≥ 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1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7F9FA"/>
                </a:solidFill>
                <a:latin typeface="Aptos"/>
              </a:rPr>
              <a:t>LOT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1993391"/>
            <a:ext cx="1069848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96AAB8"/>
                </a:solidFill>
                <a:latin typeface="Aptos"/>
              </a:rPr>
              <a:t>CU-C101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87168" y="1874519"/>
            <a:ext cx="7818120" cy="493776"/>
          </a:xfrm>
          <a:prstGeom prst="roundRect">
            <a:avLst/>
          </a:prstGeom>
          <a:solidFill>
            <a:srgbClr val="1A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82112" y="1874519"/>
            <a:ext cx="3214116" cy="493776"/>
          </a:xfrm>
          <a:prstGeom prst="rect">
            <a:avLst/>
          </a:prstGeom>
          <a:solidFill>
            <a:srgbClr val="534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96228" y="1874519"/>
            <a:ext cx="3909060" cy="493776"/>
          </a:xfrm>
          <a:prstGeom prst="rect">
            <a:avLst/>
          </a:prstGeom>
          <a:solidFill>
            <a:srgbClr val="53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>
            <a:hlinkClick r:id="rId2"/>
          </p:cNvPr>
          <p:cNvSpPr/>
          <p:nvPr/>
        </p:nvSpPr>
        <p:spPr>
          <a:xfrm>
            <a:off x="2487168" y="1874519"/>
            <a:ext cx="73152" cy="493776"/>
          </a:xfrm>
          <a:prstGeom prst="roundRect">
            <a:avLst/>
          </a:prstGeom>
          <a:solidFill>
            <a:srgbClr val="369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r:id="rId2"/>
          </p:cNvPr>
          <p:cNvSpPr txBox="1"/>
          <p:nvPr/>
        </p:nvSpPr>
        <p:spPr>
          <a:xfrm>
            <a:off x="2596896" y="19476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F7F9FA"/>
                </a:solidFill>
                <a:latin typeface="Aptos"/>
              </a:rPr>
              <a:t>0</a:t>
            </a:r>
          </a:p>
        </p:txBody>
      </p:sp>
      <p:sp>
        <p:nvSpPr>
          <p:cNvPr id="19" name="Rounded Rectangle 18">
            <a:hlinkClick r:id="rId2"/>
          </p:cNvPr>
          <p:cNvSpPr/>
          <p:nvPr/>
        </p:nvSpPr>
        <p:spPr>
          <a:xfrm>
            <a:off x="10515600" y="1956815"/>
            <a:ext cx="1024128" cy="310896"/>
          </a:xfrm>
          <a:prstGeom prst="roundRect">
            <a:avLst/>
          </a:prstGeom>
          <a:solidFill>
            <a:srgbClr val="369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r:id="rId2"/>
          </p:cNvPr>
          <p:cNvSpPr txBox="1"/>
          <p:nvPr/>
        </p:nvSpPr>
        <p:spPr>
          <a:xfrm>
            <a:off x="10515600" y="1975103"/>
            <a:ext cx="1024128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F7F9FA"/>
                </a:solidFill>
                <a:latin typeface="Aptos"/>
              </a:rPr>
              <a:t>RELEASE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816351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7F9FA"/>
                </a:solidFill>
                <a:latin typeface="Aptos"/>
              </a:rPr>
              <a:t>LOT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2816351"/>
            <a:ext cx="1069848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96AAB8"/>
                </a:solidFill>
                <a:latin typeface="Aptos"/>
              </a:rPr>
              <a:t>CU-WIRE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87168" y="2697479"/>
            <a:ext cx="7818120" cy="493776"/>
          </a:xfrm>
          <a:prstGeom prst="roundRect">
            <a:avLst/>
          </a:prstGeom>
          <a:solidFill>
            <a:srgbClr val="1A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82112" y="2697479"/>
            <a:ext cx="3214116" cy="493776"/>
          </a:xfrm>
          <a:prstGeom prst="rect">
            <a:avLst/>
          </a:prstGeom>
          <a:solidFill>
            <a:srgbClr val="534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96228" y="2697479"/>
            <a:ext cx="3909060" cy="493776"/>
          </a:xfrm>
          <a:prstGeom prst="rect">
            <a:avLst/>
          </a:prstGeom>
          <a:solidFill>
            <a:srgbClr val="53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>
            <a:hlinkClick r:id="rId3"/>
          </p:cNvPr>
          <p:cNvSpPr/>
          <p:nvPr/>
        </p:nvSpPr>
        <p:spPr>
          <a:xfrm>
            <a:off x="2487168" y="2697479"/>
            <a:ext cx="1042416" cy="493776"/>
          </a:xfrm>
          <a:prstGeom prst="roundRect">
            <a:avLst/>
          </a:prstGeom>
          <a:solidFill>
            <a:srgbClr val="EB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>
            <a:hlinkClick r:id="rId3"/>
          </p:cNvPr>
          <p:cNvSpPr txBox="1"/>
          <p:nvPr/>
        </p:nvSpPr>
        <p:spPr>
          <a:xfrm>
            <a:off x="2596896" y="277063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F7F9FA"/>
                </a:solidFill>
                <a:latin typeface="Aptos"/>
              </a:rPr>
              <a:t>12</a:t>
            </a:r>
          </a:p>
        </p:txBody>
      </p:sp>
      <p:sp>
        <p:nvSpPr>
          <p:cNvPr id="28" name="Rounded Rectangle 27">
            <a:hlinkClick r:id="rId3"/>
          </p:cNvPr>
          <p:cNvSpPr/>
          <p:nvPr/>
        </p:nvSpPr>
        <p:spPr>
          <a:xfrm>
            <a:off x="10515600" y="2779775"/>
            <a:ext cx="1024128" cy="310896"/>
          </a:xfrm>
          <a:prstGeom prst="roundRect">
            <a:avLst/>
          </a:prstGeom>
          <a:solidFill>
            <a:srgbClr val="EB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>
            <a:hlinkClick r:id="rId3"/>
          </p:cNvPr>
          <p:cNvSpPr txBox="1"/>
          <p:nvPr/>
        </p:nvSpPr>
        <p:spPr>
          <a:xfrm>
            <a:off x="10424160" y="2798063"/>
            <a:ext cx="1115568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850" b="1">
                <a:solidFill>
                  <a:srgbClr val="0F2337"/>
                </a:solidFill>
                <a:latin typeface="Aptos"/>
              </a:rPr>
              <a:t>CONDITIONAL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639311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7F9FA"/>
                </a:solidFill>
                <a:latin typeface="Aptos"/>
              </a:rPr>
              <a:t>LOT 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3639311"/>
            <a:ext cx="1069848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96AAB8"/>
                </a:solidFill>
                <a:latin typeface="Aptos"/>
              </a:rPr>
              <a:t>CU-HBPLATE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87168" y="3520439"/>
            <a:ext cx="7818120" cy="493776"/>
          </a:xfrm>
          <a:prstGeom prst="roundRect">
            <a:avLst/>
          </a:prstGeom>
          <a:solidFill>
            <a:srgbClr val="1A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82112" y="3520439"/>
            <a:ext cx="3214116" cy="493776"/>
          </a:xfrm>
          <a:prstGeom prst="rect">
            <a:avLst/>
          </a:prstGeom>
          <a:solidFill>
            <a:srgbClr val="534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96228" y="3520439"/>
            <a:ext cx="3909060" cy="493776"/>
          </a:xfrm>
          <a:prstGeom prst="rect">
            <a:avLst/>
          </a:prstGeom>
          <a:solidFill>
            <a:srgbClr val="53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>
            <a:hlinkClick r:id="rId4"/>
          </p:cNvPr>
          <p:cNvSpPr/>
          <p:nvPr/>
        </p:nvSpPr>
        <p:spPr>
          <a:xfrm>
            <a:off x="2487168" y="3520439"/>
            <a:ext cx="694944" cy="493776"/>
          </a:xfrm>
          <a:prstGeom prst="roundRect">
            <a:avLst/>
          </a:prstGeom>
          <a:solidFill>
            <a:srgbClr val="EB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r:id="rId4"/>
          </p:cNvPr>
          <p:cNvSpPr txBox="1"/>
          <p:nvPr/>
        </p:nvSpPr>
        <p:spPr>
          <a:xfrm>
            <a:off x="2596896" y="3593591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F7F9FA"/>
                </a:solidFill>
                <a:latin typeface="Aptos"/>
              </a:rPr>
              <a:t>8</a:t>
            </a:r>
          </a:p>
        </p:txBody>
      </p:sp>
      <p:sp>
        <p:nvSpPr>
          <p:cNvPr id="37" name="Rounded Rectangle 36">
            <a:hlinkClick r:id="rId4"/>
          </p:cNvPr>
          <p:cNvSpPr/>
          <p:nvPr/>
        </p:nvSpPr>
        <p:spPr>
          <a:xfrm>
            <a:off x="10515600" y="3602735"/>
            <a:ext cx="1024128" cy="310896"/>
          </a:xfrm>
          <a:prstGeom prst="roundRect">
            <a:avLst/>
          </a:prstGeom>
          <a:solidFill>
            <a:srgbClr val="EB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r:id="rId4"/>
          </p:cNvPr>
          <p:cNvSpPr txBox="1"/>
          <p:nvPr/>
        </p:nvSpPr>
        <p:spPr>
          <a:xfrm>
            <a:off x="10424160" y="3621023"/>
            <a:ext cx="1115568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850" b="1">
                <a:solidFill>
                  <a:srgbClr val="0F2337"/>
                </a:solidFill>
                <a:latin typeface="Aptos"/>
              </a:rPr>
              <a:t>CONDITIONAL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462272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7F9FA"/>
                </a:solidFill>
                <a:latin typeface="Aptos"/>
              </a:rPr>
              <a:t>LOT 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8448" y="4462272"/>
            <a:ext cx="1069848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96AAB8"/>
                </a:solidFill>
                <a:latin typeface="Aptos"/>
              </a:rPr>
              <a:t>CU-HBPLATE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87168" y="4343400"/>
            <a:ext cx="7818120" cy="493776"/>
          </a:xfrm>
          <a:prstGeom prst="roundRect">
            <a:avLst/>
          </a:prstGeom>
          <a:solidFill>
            <a:srgbClr val="1A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182112" y="4343400"/>
            <a:ext cx="3214116" cy="493776"/>
          </a:xfrm>
          <a:prstGeom prst="rect">
            <a:avLst/>
          </a:prstGeom>
          <a:solidFill>
            <a:srgbClr val="534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96228" y="4343400"/>
            <a:ext cx="3909060" cy="493776"/>
          </a:xfrm>
          <a:prstGeom prst="rect">
            <a:avLst/>
          </a:prstGeom>
          <a:solidFill>
            <a:srgbClr val="53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>
            <a:hlinkClick r:id="rId5"/>
          </p:cNvPr>
          <p:cNvSpPr/>
          <p:nvPr/>
        </p:nvSpPr>
        <p:spPr>
          <a:xfrm>
            <a:off x="2487168" y="4343400"/>
            <a:ext cx="7644384" cy="493776"/>
          </a:xfrm>
          <a:prstGeom prst="roundRect">
            <a:avLst/>
          </a:prstGeom>
          <a:solidFill>
            <a:srgbClr val="D5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>
            <a:hlinkClick r:id="rId5"/>
          </p:cNvPr>
          <p:cNvSpPr txBox="1"/>
          <p:nvPr/>
        </p:nvSpPr>
        <p:spPr>
          <a:xfrm>
            <a:off x="2596896" y="441655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F7F9FA"/>
                </a:solidFill>
                <a:latin typeface="Aptos"/>
              </a:rPr>
              <a:t>88</a:t>
            </a:r>
          </a:p>
        </p:txBody>
      </p:sp>
      <p:sp>
        <p:nvSpPr>
          <p:cNvPr id="46" name="Rounded Rectangle 45">
            <a:hlinkClick r:id="rId5"/>
          </p:cNvPr>
          <p:cNvSpPr/>
          <p:nvPr/>
        </p:nvSpPr>
        <p:spPr>
          <a:xfrm>
            <a:off x="10515600" y="4425696"/>
            <a:ext cx="1024128" cy="310896"/>
          </a:xfrm>
          <a:prstGeom prst="roundRect">
            <a:avLst/>
          </a:prstGeom>
          <a:solidFill>
            <a:srgbClr val="D5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>
            <a:hlinkClick r:id="rId5"/>
          </p:cNvPr>
          <p:cNvSpPr txBox="1"/>
          <p:nvPr/>
        </p:nvSpPr>
        <p:spPr>
          <a:xfrm>
            <a:off x="10515600" y="4443983"/>
            <a:ext cx="1024128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F7F9FA"/>
                </a:solidFill>
                <a:latin typeface="Aptos"/>
              </a:rPr>
              <a:t>HOLD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285232"/>
            <a:ext cx="713232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7F9FA"/>
                </a:solidFill>
                <a:latin typeface="Aptos"/>
              </a:rPr>
              <a:t>LOT 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98448" y="5285232"/>
            <a:ext cx="1069848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96AAB8"/>
                </a:solidFill>
                <a:latin typeface="Aptos"/>
              </a:rPr>
              <a:t>CU3SN-ETA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487168" y="5166360"/>
            <a:ext cx="7818120" cy="493776"/>
          </a:xfrm>
          <a:prstGeom prst="roundRect">
            <a:avLst/>
          </a:prstGeom>
          <a:solidFill>
            <a:srgbClr val="1A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82112" y="5166360"/>
            <a:ext cx="3214116" cy="493776"/>
          </a:xfrm>
          <a:prstGeom prst="rect">
            <a:avLst/>
          </a:prstGeom>
          <a:solidFill>
            <a:srgbClr val="534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96228" y="5166360"/>
            <a:ext cx="3909060" cy="493776"/>
          </a:xfrm>
          <a:prstGeom prst="rect">
            <a:avLst/>
          </a:prstGeom>
          <a:solidFill>
            <a:srgbClr val="53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>
            <a:hlinkClick r:id="rId6"/>
          </p:cNvPr>
          <p:cNvSpPr/>
          <p:nvPr/>
        </p:nvSpPr>
        <p:spPr>
          <a:xfrm>
            <a:off x="2487168" y="5166360"/>
            <a:ext cx="3822192" cy="493776"/>
          </a:xfrm>
          <a:prstGeom prst="roundRect">
            <a:avLst/>
          </a:prstGeom>
          <a:solidFill>
            <a:srgbClr val="EB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>
            <a:hlinkClick r:id="rId6"/>
          </p:cNvPr>
          <p:cNvSpPr txBox="1"/>
          <p:nvPr/>
        </p:nvSpPr>
        <p:spPr>
          <a:xfrm>
            <a:off x="2596896" y="523951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F7F9FA"/>
                </a:solidFill>
                <a:latin typeface="Aptos"/>
              </a:rPr>
              <a:t>44</a:t>
            </a:r>
          </a:p>
        </p:txBody>
      </p:sp>
      <p:sp>
        <p:nvSpPr>
          <p:cNvPr id="55" name="Rounded Rectangle 54">
            <a:hlinkClick r:id="rId6"/>
          </p:cNvPr>
          <p:cNvSpPr/>
          <p:nvPr/>
        </p:nvSpPr>
        <p:spPr>
          <a:xfrm>
            <a:off x="10515600" y="5248656"/>
            <a:ext cx="1024128" cy="310896"/>
          </a:xfrm>
          <a:prstGeom prst="roundRect">
            <a:avLst/>
          </a:prstGeom>
          <a:solidFill>
            <a:srgbClr val="EB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>
            <a:hlinkClick r:id="rId6"/>
          </p:cNvPr>
          <p:cNvSpPr txBox="1"/>
          <p:nvPr/>
        </p:nvSpPr>
        <p:spPr>
          <a:xfrm>
            <a:off x="10424160" y="5266944"/>
            <a:ext cx="1115568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850" b="1">
                <a:solidFill>
                  <a:srgbClr val="0F2337"/>
                </a:solidFill>
                <a:latin typeface="Aptos"/>
              </a:rPr>
              <a:t>CONDITIONAL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82112" y="1746504"/>
            <a:ext cx="13716" cy="4197096"/>
          </a:xfrm>
          <a:prstGeom prst="rect">
            <a:avLst/>
          </a:prstGeom>
          <a:solidFill>
            <a:srgbClr val="DB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17520" y="155448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DBE6ED"/>
                </a:solidFill>
                <a:latin typeface="Aptos"/>
              </a:rPr>
              <a:t>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96228" y="1746504"/>
            <a:ext cx="13715" cy="4197096"/>
          </a:xfrm>
          <a:prstGeom prst="rect">
            <a:avLst/>
          </a:prstGeom>
          <a:solidFill>
            <a:srgbClr val="DB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31636" y="1554480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00" b="1">
                <a:solidFill>
                  <a:srgbClr val="DBE6ED"/>
                </a:solidFill>
                <a:latin typeface="Aptos"/>
              </a:rPr>
              <a:t>45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87168" y="6062472"/>
            <a:ext cx="78181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BB539"/>
                </a:solidFill>
                <a:latin typeface="Aptos"/>
              </a:rPr>
              <a:t>LOT E sits one point below HOLD under the configured score threshold despite a chemistry violation.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" y="6547104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96AAB8"/>
                </a:solidFill>
                <a:latin typeface="Aptos"/>
              </a:rPr>
              <a:t>CU-JULY-2026-QUAL  •  24 JUL 2026  •  MODEL-DERIVED VISUAL READOUT</a:t>
            </a:r>
          </a:p>
        </p:txBody>
      </p:sp>
      <p:sp>
        <p:nvSpPr>
          <p:cNvPr id="63" name="TextBox 62">
            <a:hlinkClick r:id="rId7"/>
          </p:cNvPr>
          <p:cNvSpPr txBox="1"/>
          <p:nvPr/>
        </p:nvSpPr>
        <p:spPr>
          <a:xfrm>
            <a:off x="8275320" y="6510528"/>
            <a:ext cx="331012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E0975C"/>
                </a:solidFill>
                <a:latin typeface="Aptos"/>
              </a:rPr>
              <a:t>technical_findings_matrix.xlsx  ·  Calculations!O71:P75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8638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E0975C"/>
                </a:solidFill>
                <a:latin typeface="Aptos"/>
              </a:rPr>
              <a:t>RISK 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F7F9FA"/>
                </a:solidFill>
                <a:latin typeface="Aptos"/>
              </a:rPr>
              <a:t>The score is the sum of model flags × configured weights.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100" b="1">
                <a:solidFill>
                  <a:srgbClr val="96AAB8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0991088" cy="18288"/>
          </a:xfrm>
          <a:prstGeom prst="rect">
            <a:avLst/>
          </a:prstGeom>
          <a:solidFill>
            <a:srgbClr val="39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89888"/>
            <a:ext cx="164592" cy="164592"/>
          </a:xfrm>
          <a:prstGeom prst="rect">
            <a:avLst/>
          </a:prstGeom>
          <a:solidFill>
            <a:srgbClr val="D5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344168"/>
            <a:ext cx="1417320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DBE6ED"/>
                </a:solidFill>
                <a:latin typeface="Aptos"/>
              </a:rPr>
              <a:t>Chemistry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389888"/>
            <a:ext cx="164592" cy="164592"/>
          </a:xfrm>
          <a:prstGeom prst="rect">
            <a:avLst/>
          </a:prstGeom>
          <a:solidFill>
            <a:srgbClr val="BE6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42615" y="1344168"/>
            <a:ext cx="1417320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DBE6ED"/>
                </a:solidFill>
                <a:latin typeface="Aptos"/>
              </a:rPr>
              <a:t>Electrical 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389888"/>
            <a:ext cx="164592" cy="164592"/>
          </a:xfrm>
          <a:prstGeom prst="rect">
            <a:avLst/>
          </a:prstGeom>
          <a:solidFill>
            <a:srgbClr val="488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1344168"/>
            <a:ext cx="1417320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DBE6ED"/>
                </a:solidFill>
                <a:latin typeface="Aptos"/>
              </a:rPr>
              <a:t>Margin &lt;10 mΩ 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389888"/>
            <a:ext cx="164592" cy="164592"/>
          </a:xfrm>
          <a:prstGeom prst="rect">
            <a:avLst/>
          </a:prstGeom>
          <a:solidFill>
            <a:srgbClr val="EB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1344168"/>
            <a:ext cx="1417320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DBE6ED"/>
                </a:solidFill>
                <a:latin typeface="Aptos"/>
              </a:rPr>
              <a:t>Exception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389888"/>
            <a:ext cx="164592" cy="164592"/>
          </a:xfrm>
          <a:prstGeom prst="rect">
            <a:avLst/>
          </a:prstGeom>
          <a:solidFill>
            <a:srgbClr val="876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1856" y="1344168"/>
            <a:ext cx="1417320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DBE6ED"/>
                </a:solidFill>
                <a:latin typeface="Aptos"/>
              </a:rPr>
              <a:t>Literature 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55480" y="1389888"/>
            <a:ext cx="164592" cy="164592"/>
          </a:xfrm>
          <a:prstGeom prst="rect">
            <a:avLst/>
          </a:prstGeom>
          <a:solidFill>
            <a:srgbClr val="96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1344168"/>
            <a:ext cx="1417320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0">
                <a:solidFill>
                  <a:srgbClr val="DBE6ED"/>
                </a:solidFill>
                <a:latin typeface="Aptos"/>
              </a:rPr>
              <a:t>Catalog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011680"/>
            <a:ext cx="6400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F7F9FA"/>
                </a:solidFill>
                <a:latin typeface="Aptos"/>
              </a:rPr>
              <a:t>LOT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2029968"/>
            <a:ext cx="987552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1">
                <a:solidFill>
                  <a:srgbClr val="369A6D"/>
                </a:solidFill>
                <a:latin typeface="Aptos"/>
              </a:rPr>
              <a:t>RELEASE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40280" y="1920240"/>
            <a:ext cx="8732520" cy="438912"/>
          </a:xfrm>
          <a:prstGeom prst="roundRect">
            <a:avLst/>
          </a:prstGeom>
          <a:solidFill>
            <a:srgbClr val="1A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hlinkClick r:id="rId2"/>
          </p:cNvPr>
          <p:cNvSpPr txBox="1"/>
          <p:nvPr/>
        </p:nvSpPr>
        <p:spPr>
          <a:xfrm>
            <a:off x="11064240" y="1993392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400" b="1">
                <a:solidFill>
                  <a:srgbClr val="F7F9FA"/>
                </a:solidFill>
                <a:latin typeface="Aptos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798064"/>
            <a:ext cx="6400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F7F9FA"/>
                </a:solidFill>
                <a:latin typeface="Aptos"/>
              </a:rPr>
              <a:t>LOT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2816352"/>
            <a:ext cx="987552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1">
                <a:solidFill>
                  <a:srgbClr val="EBB539"/>
                </a:solidFill>
                <a:latin typeface="Aptos"/>
              </a:rPr>
              <a:t>CONDITIONAL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40280" y="2706624"/>
            <a:ext cx="8732520" cy="438912"/>
          </a:xfrm>
          <a:prstGeom prst="roundRect">
            <a:avLst/>
          </a:prstGeom>
          <a:solidFill>
            <a:srgbClr val="1A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>
            <a:hlinkClick r:id="rId3"/>
          </p:cNvPr>
          <p:cNvSpPr/>
          <p:nvPr/>
        </p:nvSpPr>
        <p:spPr>
          <a:xfrm>
            <a:off x="2240280" y="2706624"/>
            <a:ext cx="776224" cy="438912"/>
          </a:xfrm>
          <a:prstGeom prst="rect">
            <a:avLst/>
          </a:prstGeom>
          <a:solidFill>
            <a:srgbClr val="EB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>
            <a:hlinkClick r:id="rId3"/>
          </p:cNvPr>
          <p:cNvSpPr txBox="1"/>
          <p:nvPr/>
        </p:nvSpPr>
        <p:spPr>
          <a:xfrm>
            <a:off x="2240280" y="2770632"/>
            <a:ext cx="776224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0F2337"/>
                </a:solidFill>
                <a:latin typeface="Aptos"/>
              </a:rPr>
              <a:t>8</a:t>
            </a:r>
          </a:p>
        </p:txBody>
      </p:sp>
      <p:sp>
        <p:nvSpPr>
          <p:cNvPr id="28" name="Rectangle 27">
            <a:hlinkClick r:id="rId3"/>
          </p:cNvPr>
          <p:cNvSpPr/>
          <p:nvPr/>
        </p:nvSpPr>
        <p:spPr>
          <a:xfrm>
            <a:off x="3016504" y="2706624"/>
            <a:ext cx="388112" cy="438912"/>
          </a:xfrm>
          <a:prstGeom prst="rect">
            <a:avLst/>
          </a:prstGeom>
          <a:solidFill>
            <a:srgbClr val="96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>
            <a:hlinkClick r:id="rId3"/>
          </p:cNvPr>
          <p:cNvSpPr txBox="1"/>
          <p:nvPr/>
        </p:nvSpPr>
        <p:spPr>
          <a:xfrm>
            <a:off x="11064240" y="2779776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400" b="1">
                <a:solidFill>
                  <a:srgbClr val="F7F9FA"/>
                </a:solidFill>
                <a:latin typeface="Aptos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584448"/>
            <a:ext cx="6400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F7F9FA"/>
                </a:solidFill>
                <a:latin typeface="Aptos"/>
              </a:rPr>
              <a:t>LOT 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7008" y="3602736"/>
            <a:ext cx="987552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1">
                <a:solidFill>
                  <a:srgbClr val="EBB539"/>
                </a:solidFill>
                <a:latin typeface="Aptos"/>
              </a:rPr>
              <a:t>CONDITIONAL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40280" y="3493008"/>
            <a:ext cx="8732520" cy="438912"/>
          </a:xfrm>
          <a:prstGeom prst="roundRect">
            <a:avLst/>
          </a:prstGeom>
          <a:solidFill>
            <a:srgbClr val="1A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>
            <a:hlinkClick r:id="rId4"/>
          </p:cNvPr>
          <p:cNvSpPr/>
          <p:nvPr/>
        </p:nvSpPr>
        <p:spPr>
          <a:xfrm>
            <a:off x="2240280" y="3493008"/>
            <a:ext cx="776224" cy="438912"/>
          </a:xfrm>
          <a:prstGeom prst="rect">
            <a:avLst/>
          </a:prstGeom>
          <a:solidFill>
            <a:srgbClr val="EB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r:id="rId4"/>
          </p:cNvPr>
          <p:cNvSpPr txBox="1"/>
          <p:nvPr/>
        </p:nvSpPr>
        <p:spPr>
          <a:xfrm>
            <a:off x="2240280" y="3557016"/>
            <a:ext cx="776224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0F2337"/>
                </a:solidFill>
                <a:latin typeface="Aptos"/>
              </a:rPr>
              <a:t>8</a:t>
            </a:r>
          </a:p>
        </p:txBody>
      </p:sp>
      <p:sp>
        <p:nvSpPr>
          <p:cNvPr id="35" name="TextBox 34">
            <a:hlinkClick r:id="rId4"/>
          </p:cNvPr>
          <p:cNvSpPr txBox="1"/>
          <p:nvPr/>
        </p:nvSpPr>
        <p:spPr>
          <a:xfrm>
            <a:off x="11064240" y="3566160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400" b="1">
                <a:solidFill>
                  <a:srgbClr val="F7F9FA"/>
                </a:solidFill>
                <a:latin typeface="Aptos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370831"/>
            <a:ext cx="6400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F7F9FA"/>
                </a:solidFill>
                <a:latin typeface="Aptos"/>
              </a:rPr>
              <a:t>LOT 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07008" y="4389120"/>
            <a:ext cx="987552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1">
                <a:solidFill>
                  <a:srgbClr val="D54C46"/>
                </a:solidFill>
                <a:latin typeface="Aptos"/>
              </a:rPr>
              <a:t>HOLD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40280" y="4279392"/>
            <a:ext cx="8732520" cy="438912"/>
          </a:xfrm>
          <a:prstGeom prst="roundRect">
            <a:avLst/>
          </a:prstGeom>
          <a:solidFill>
            <a:srgbClr val="1A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>
            <a:hlinkClick r:id="rId5"/>
          </p:cNvPr>
          <p:cNvSpPr/>
          <p:nvPr/>
        </p:nvSpPr>
        <p:spPr>
          <a:xfrm>
            <a:off x="2240280" y="4279392"/>
            <a:ext cx="3881120" cy="438912"/>
          </a:xfrm>
          <a:prstGeom prst="rect">
            <a:avLst/>
          </a:prstGeom>
          <a:solidFill>
            <a:srgbClr val="D5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>
            <a:hlinkClick r:id="rId5"/>
          </p:cNvPr>
          <p:cNvSpPr txBox="1"/>
          <p:nvPr/>
        </p:nvSpPr>
        <p:spPr>
          <a:xfrm>
            <a:off x="2240280" y="4343400"/>
            <a:ext cx="388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7F9FA"/>
                </a:solidFill>
                <a:latin typeface="Aptos"/>
              </a:rPr>
              <a:t>40</a:t>
            </a:r>
          </a:p>
        </p:txBody>
      </p:sp>
      <p:sp>
        <p:nvSpPr>
          <p:cNvPr id="41" name="Rectangle 40">
            <a:hlinkClick r:id="rId5"/>
          </p:cNvPr>
          <p:cNvSpPr/>
          <p:nvPr/>
        </p:nvSpPr>
        <p:spPr>
          <a:xfrm>
            <a:off x="6121400" y="4279392"/>
            <a:ext cx="2425700" cy="438912"/>
          </a:xfrm>
          <a:prstGeom prst="rect">
            <a:avLst/>
          </a:prstGeom>
          <a:solidFill>
            <a:srgbClr val="BE6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>
            <a:hlinkClick r:id="rId5"/>
          </p:cNvPr>
          <p:cNvSpPr txBox="1"/>
          <p:nvPr/>
        </p:nvSpPr>
        <p:spPr>
          <a:xfrm>
            <a:off x="6121400" y="4343400"/>
            <a:ext cx="24257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7F9FA"/>
                </a:solidFill>
                <a:latin typeface="Aptos"/>
              </a:rPr>
              <a:t>25</a:t>
            </a:r>
          </a:p>
        </p:txBody>
      </p:sp>
      <p:sp>
        <p:nvSpPr>
          <p:cNvPr id="43" name="Rectangle 42">
            <a:hlinkClick r:id="rId5"/>
          </p:cNvPr>
          <p:cNvSpPr/>
          <p:nvPr/>
        </p:nvSpPr>
        <p:spPr>
          <a:xfrm>
            <a:off x="8547100" y="4279392"/>
            <a:ext cx="1455420" cy="438912"/>
          </a:xfrm>
          <a:prstGeom prst="rect">
            <a:avLst/>
          </a:prstGeom>
          <a:solidFill>
            <a:srgbClr val="488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>
            <a:hlinkClick r:id="rId5"/>
          </p:cNvPr>
          <p:cNvSpPr txBox="1"/>
          <p:nvPr/>
        </p:nvSpPr>
        <p:spPr>
          <a:xfrm>
            <a:off x="8547100" y="4343400"/>
            <a:ext cx="14554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7F9FA"/>
                </a:solidFill>
                <a:latin typeface="Aptos"/>
              </a:rPr>
              <a:t>15</a:t>
            </a:r>
          </a:p>
        </p:txBody>
      </p:sp>
      <p:sp>
        <p:nvSpPr>
          <p:cNvPr id="45" name="Rectangle 44">
            <a:hlinkClick r:id="rId5"/>
          </p:cNvPr>
          <p:cNvSpPr/>
          <p:nvPr/>
        </p:nvSpPr>
        <p:spPr>
          <a:xfrm>
            <a:off x="10002520" y="4279392"/>
            <a:ext cx="776224" cy="438912"/>
          </a:xfrm>
          <a:prstGeom prst="rect">
            <a:avLst/>
          </a:prstGeom>
          <a:solidFill>
            <a:srgbClr val="EB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>
            <a:hlinkClick r:id="rId5"/>
          </p:cNvPr>
          <p:cNvSpPr txBox="1"/>
          <p:nvPr/>
        </p:nvSpPr>
        <p:spPr>
          <a:xfrm>
            <a:off x="10002520" y="4343400"/>
            <a:ext cx="776224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0F2337"/>
                </a:solidFill>
                <a:latin typeface="Aptos"/>
              </a:rPr>
              <a:t>8</a:t>
            </a:r>
          </a:p>
        </p:txBody>
      </p:sp>
      <p:sp>
        <p:nvSpPr>
          <p:cNvPr id="47" name="TextBox 46">
            <a:hlinkClick r:id="rId5"/>
          </p:cNvPr>
          <p:cNvSpPr txBox="1"/>
          <p:nvPr/>
        </p:nvSpPr>
        <p:spPr>
          <a:xfrm>
            <a:off x="11064240" y="4352544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400" b="1">
                <a:solidFill>
                  <a:srgbClr val="F7F9FA"/>
                </a:solidFill>
                <a:latin typeface="Aptos"/>
              </a:rPr>
              <a:t>88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157216"/>
            <a:ext cx="6400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F7F9FA"/>
                </a:solidFill>
                <a:latin typeface="Aptos"/>
              </a:rPr>
              <a:t>LOT 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07008" y="5175504"/>
            <a:ext cx="987552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1">
                <a:solidFill>
                  <a:srgbClr val="EBB539"/>
                </a:solidFill>
                <a:latin typeface="Aptos"/>
              </a:rPr>
              <a:t>CONDITIONAL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240280" y="5065776"/>
            <a:ext cx="8732520" cy="438912"/>
          </a:xfrm>
          <a:prstGeom prst="roundRect">
            <a:avLst/>
          </a:prstGeom>
          <a:solidFill>
            <a:srgbClr val="1A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>
            <a:hlinkClick r:id="rId6"/>
          </p:cNvPr>
          <p:cNvSpPr/>
          <p:nvPr/>
        </p:nvSpPr>
        <p:spPr>
          <a:xfrm>
            <a:off x="2240280" y="5065776"/>
            <a:ext cx="3881120" cy="438912"/>
          </a:xfrm>
          <a:prstGeom prst="rect">
            <a:avLst/>
          </a:prstGeom>
          <a:solidFill>
            <a:srgbClr val="D5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>
            <a:hlinkClick r:id="rId6"/>
          </p:cNvPr>
          <p:cNvSpPr txBox="1"/>
          <p:nvPr/>
        </p:nvSpPr>
        <p:spPr>
          <a:xfrm>
            <a:off x="2240280" y="5129784"/>
            <a:ext cx="38811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7F9FA"/>
                </a:solidFill>
                <a:latin typeface="Aptos"/>
              </a:rPr>
              <a:t>40</a:t>
            </a:r>
          </a:p>
        </p:txBody>
      </p:sp>
      <p:sp>
        <p:nvSpPr>
          <p:cNvPr id="53" name="Rectangle 52">
            <a:hlinkClick r:id="rId6"/>
          </p:cNvPr>
          <p:cNvSpPr/>
          <p:nvPr/>
        </p:nvSpPr>
        <p:spPr>
          <a:xfrm>
            <a:off x="6121400" y="5065776"/>
            <a:ext cx="388112" cy="438912"/>
          </a:xfrm>
          <a:prstGeom prst="rect">
            <a:avLst/>
          </a:prstGeom>
          <a:solidFill>
            <a:srgbClr val="96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>
            <a:hlinkClick r:id="rId6"/>
          </p:cNvPr>
          <p:cNvSpPr txBox="1"/>
          <p:nvPr/>
        </p:nvSpPr>
        <p:spPr>
          <a:xfrm>
            <a:off x="11064240" y="5138928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400" b="1">
                <a:solidFill>
                  <a:srgbClr val="F7F9FA"/>
                </a:solidFill>
                <a:latin typeface="Aptos"/>
              </a:rPr>
              <a:t>44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" y="5870448"/>
            <a:ext cx="3429000" cy="438912"/>
          </a:xfrm>
          <a:prstGeom prst="roundRect">
            <a:avLst/>
          </a:prstGeom>
          <a:solidFill>
            <a:srgbClr val="254051"/>
          </a:solidFill>
          <a:ln w="12700">
            <a:solidFill>
              <a:srgbClr val="395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>
            <a:hlinkClick r:id="rId7"/>
          </p:cNvPr>
          <p:cNvSpPr txBox="1"/>
          <p:nvPr/>
        </p:nvSpPr>
        <p:spPr>
          <a:xfrm>
            <a:off x="804672" y="5961888"/>
            <a:ext cx="312724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7F9FA"/>
                </a:solidFill>
                <a:latin typeface="Aptos"/>
              </a:rPr>
              <a:t>LOT D = 40 + 25 + 15 + 8 = 88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15968" y="5870448"/>
            <a:ext cx="3246120" cy="438912"/>
          </a:xfrm>
          <a:prstGeom prst="roundRect">
            <a:avLst/>
          </a:prstGeom>
          <a:solidFill>
            <a:srgbClr val="254051"/>
          </a:solidFill>
          <a:ln w="12700">
            <a:solidFill>
              <a:srgbClr val="395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>
            <a:hlinkClick r:id="rId8"/>
          </p:cNvPr>
          <p:cNvSpPr txBox="1"/>
          <p:nvPr/>
        </p:nvSpPr>
        <p:spPr>
          <a:xfrm>
            <a:off x="4462272" y="5961888"/>
            <a:ext cx="294436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7F9FA"/>
                </a:solidFill>
                <a:latin typeface="Aptos"/>
              </a:rPr>
              <a:t>LOT B = exception 8 + catalog 4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90688" y="5870448"/>
            <a:ext cx="3182112" cy="438912"/>
          </a:xfrm>
          <a:prstGeom prst="roundRect">
            <a:avLst/>
          </a:prstGeom>
          <a:solidFill>
            <a:srgbClr val="254051"/>
          </a:solidFill>
          <a:ln w="12700">
            <a:solidFill>
              <a:srgbClr val="395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>
            <a:hlinkClick r:id="rId9"/>
          </p:cNvPr>
          <p:cNvSpPr txBox="1"/>
          <p:nvPr/>
        </p:nvSpPr>
        <p:spPr>
          <a:xfrm>
            <a:off x="7936992" y="5961888"/>
            <a:ext cx="288036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7F9FA"/>
                </a:solidFill>
                <a:latin typeface="Aptos"/>
              </a:rPr>
              <a:t>LOT E = chemistry 40 + catalog 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" y="6547104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96AAB8"/>
                </a:solidFill>
                <a:latin typeface="Aptos"/>
              </a:rPr>
              <a:t>CU-JULY-2026-QUAL  •  24 JUL 2026  •  MODEL-DERIVED VISUAL READOUT</a:t>
            </a:r>
          </a:p>
        </p:txBody>
      </p:sp>
      <p:sp>
        <p:nvSpPr>
          <p:cNvPr id="62" name="TextBox 61">
            <a:hlinkClick r:id="rId10"/>
          </p:cNvPr>
          <p:cNvSpPr txBox="1"/>
          <p:nvPr/>
        </p:nvSpPr>
        <p:spPr>
          <a:xfrm>
            <a:off x="8275320" y="6510528"/>
            <a:ext cx="331012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E0975C"/>
                </a:solidFill>
                <a:latin typeface="Aptos"/>
              </a:rPr>
              <a:t>technical_findings_matrix.xlsx  ·  Calculations!C71:O75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8638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E0975C"/>
                </a:solidFill>
                <a:latin typeface="Aptos"/>
              </a:rPr>
              <a:t>TRACEABLE CALCULATION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100" b="1">
                <a:solidFill>
                  <a:srgbClr val="F7F9FA"/>
                </a:solidFill>
                <a:latin typeface="Aptos"/>
              </a:rPr>
              <a:t>Only selected protocol matches feed the resistance margin and 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100" b="1">
                <a:solidFill>
                  <a:srgbClr val="96AAB8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0991088" cy="18288"/>
          </a:xfrm>
          <a:prstGeom prst="rect">
            <a:avLst/>
          </a:prstGeom>
          <a:solidFill>
            <a:srgbClr val="39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621792" y="1572768"/>
            <a:ext cx="2011680" cy="1005840"/>
          </a:xfrm>
          <a:prstGeom prst="roundRect">
            <a:avLst/>
          </a:prstGeom>
          <a:solidFill>
            <a:srgbClr val="1F3B4D"/>
          </a:solidFill>
          <a:ln w="12700">
            <a:solidFill>
              <a:srgbClr val="369A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>
            <a:hlinkClick r:id="rId2"/>
          </p:cNvPr>
          <p:cNvSpPr txBox="1"/>
          <p:nvPr/>
        </p:nvSpPr>
        <p:spPr>
          <a:xfrm>
            <a:off x="749808" y="1682495"/>
            <a:ext cx="1755648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369A6D"/>
                </a:solidFill>
                <a:latin typeface="Aptos"/>
              </a:rPr>
              <a:t>MEASURED</a:t>
            </a:r>
          </a:p>
        </p:txBody>
      </p:sp>
      <p:sp>
        <p:nvSpPr>
          <p:cNvPr id="9" name="TextBox 8">
            <a:hlinkClick r:id="rId2"/>
          </p:cNvPr>
          <p:cNvSpPr txBox="1"/>
          <p:nvPr/>
        </p:nvSpPr>
        <p:spPr>
          <a:xfrm>
            <a:off x="749808" y="1929384"/>
            <a:ext cx="175564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F7F9FA"/>
                </a:solidFill>
                <a:latin typeface="Aptos"/>
              </a:rPr>
              <a:t>HB resistivity</a:t>
            </a:r>
          </a:p>
        </p:txBody>
      </p:sp>
      <p:sp>
        <p:nvSpPr>
          <p:cNvPr id="10" name="TextBox 9">
            <a:hlinkClick r:id="rId2"/>
          </p:cNvPr>
          <p:cNvSpPr txBox="1"/>
          <p:nvPr/>
        </p:nvSpPr>
        <p:spPr>
          <a:xfrm>
            <a:off x="749808" y="2203704"/>
            <a:ext cx="175564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DBE6ED"/>
                </a:solidFill>
                <a:latin typeface="Aptos"/>
              </a:rPr>
              <a:t>1.762 µΩ·cm</a:t>
            </a:r>
          </a:p>
        </p:txBody>
      </p:sp>
      <p:sp>
        <p:nvSpPr>
          <p:cNvPr id="11" name="Rounded Rectangle 10">
            <a:hlinkClick r:id="rId3"/>
          </p:cNvPr>
          <p:cNvSpPr/>
          <p:nvPr/>
        </p:nvSpPr>
        <p:spPr>
          <a:xfrm>
            <a:off x="2999232" y="1572768"/>
            <a:ext cx="2011680" cy="1005840"/>
          </a:xfrm>
          <a:prstGeom prst="roundRect">
            <a:avLst/>
          </a:prstGeom>
          <a:solidFill>
            <a:srgbClr val="1F3B4D"/>
          </a:solidFill>
          <a:ln w="12700">
            <a:solidFill>
              <a:srgbClr val="48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3127248" y="1682495"/>
            <a:ext cx="1755648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4885AD"/>
                </a:solidFill>
                <a:latin typeface="Aptos"/>
              </a:rPr>
              <a:t>GEOMETRY</a:t>
            </a:r>
          </a:p>
        </p:txBody>
      </p:sp>
      <p:sp>
        <p:nvSpPr>
          <p:cNvPr id="13" name="TextBox 12">
            <a:hlinkClick r:id="rId3"/>
          </p:cNvPr>
          <p:cNvSpPr txBox="1"/>
          <p:nvPr/>
        </p:nvSpPr>
        <p:spPr>
          <a:xfrm>
            <a:off x="3127248" y="1929384"/>
            <a:ext cx="175564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F7F9FA"/>
                </a:solidFill>
                <a:latin typeface="Aptos"/>
              </a:rPr>
              <a:t>50 mm × 400 µm</a:t>
            </a:r>
          </a:p>
        </p:txBody>
      </p:sp>
      <p:sp>
        <p:nvSpPr>
          <p:cNvPr id="14" name="TextBox 13">
            <a:hlinkClick r:id="rId3"/>
          </p:cNvPr>
          <p:cNvSpPr txBox="1"/>
          <p:nvPr/>
        </p:nvSpPr>
        <p:spPr>
          <a:xfrm>
            <a:off x="3127248" y="2203704"/>
            <a:ext cx="175564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DBE6ED"/>
                </a:solidFill>
                <a:latin typeface="Aptos"/>
              </a:rPr>
              <a:t>17.8 µm average</a:t>
            </a:r>
          </a:p>
        </p:txBody>
      </p:sp>
      <p:sp>
        <p:nvSpPr>
          <p:cNvPr id="15" name="Rounded Rectangle 14">
            <a:hlinkClick r:id="rId4"/>
          </p:cNvPr>
          <p:cNvSpPr/>
          <p:nvPr/>
        </p:nvSpPr>
        <p:spPr>
          <a:xfrm>
            <a:off x="5376672" y="1572768"/>
            <a:ext cx="2011680" cy="1005840"/>
          </a:xfrm>
          <a:prstGeom prst="roundRect">
            <a:avLst/>
          </a:prstGeom>
          <a:solidFill>
            <a:srgbClr val="1F3B4D"/>
          </a:solidFill>
          <a:ln w="12700">
            <a:solidFill>
              <a:srgbClr val="BE6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5504688" y="1682495"/>
            <a:ext cx="1755648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BE6C34"/>
                </a:solidFill>
                <a:latin typeface="Aptos"/>
              </a:rPr>
              <a:t>SERVICE</a:t>
            </a:r>
          </a:p>
        </p:txBody>
      </p:sp>
      <p:sp>
        <p:nvSpPr>
          <p:cNvPr id="17" name="TextBox 16">
            <a:hlinkClick r:id="rId4"/>
          </p:cNvPr>
          <p:cNvSpPr txBox="1"/>
          <p:nvPr/>
        </p:nvSpPr>
        <p:spPr>
          <a:xfrm>
            <a:off x="5504688" y="1929384"/>
            <a:ext cx="175564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F7F9FA"/>
                </a:solidFill>
                <a:latin typeface="Aptos"/>
              </a:rPr>
              <a:t>85 °C adjustment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504688" y="2203704"/>
            <a:ext cx="175564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DBE6ED"/>
                </a:solidFill>
                <a:latin typeface="Aptos"/>
              </a:rPr>
              <a:t>α = 0.00393 /°C</a:t>
            </a:r>
          </a:p>
        </p:txBody>
      </p:sp>
      <p:sp>
        <p:nvSpPr>
          <p:cNvPr id="19" name="Rounded Rectangle 18">
            <a:hlinkClick r:id="rId5"/>
          </p:cNvPr>
          <p:cNvSpPr/>
          <p:nvPr/>
        </p:nvSpPr>
        <p:spPr>
          <a:xfrm>
            <a:off x="7754112" y="1572768"/>
            <a:ext cx="2011680" cy="1005840"/>
          </a:xfrm>
          <a:prstGeom prst="roundRect">
            <a:avLst/>
          </a:prstGeom>
          <a:solidFill>
            <a:srgbClr val="1F3B4D"/>
          </a:solidFill>
          <a:ln w="12700">
            <a:solidFill>
              <a:srgbClr val="EBB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>
            <a:hlinkClick r:id="rId5"/>
          </p:cNvPr>
          <p:cNvSpPr txBox="1"/>
          <p:nvPr/>
        </p:nvSpPr>
        <p:spPr>
          <a:xfrm>
            <a:off x="7882128" y="1682495"/>
            <a:ext cx="1755648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EBB539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>
            <a:hlinkClick r:id="rId5"/>
          </p:cNvPr>
          <p:cNvSpPr txBox="1"/>
          <p:nvPr/>
        </p:nvSpPr>
        <p:spPr>
          <a:xfrm>
            <a:off x="7882128" y="1929384"/>
            <a:ext cx="175564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F7F9FA"/>
                </a:solidFill>
                <a:latin typeface="Aptos"/>
              </a:rPr>
              <a:t>Trace resistance</a:t>
            </a:r>
          </a:p>
        </p:txBody>
      </p:sp>
      <p:sp>
        <p:nvSpPr>
          <p:cNvPr id="22" name="TextBox 21">
            <a:hlinkClick r:id="rId5"/>
          </p:cNvPr>
          <p:cNvSpPr txBox="1"/>
          <p:nvPr/>
        </p:nvSpPr>
        <p:spPr>
          <a:xfrm>
            <a:off x="7882128" y="2203704"/>
            <a:ext cx="175564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DBE6ED"/>
                </a:solidFill>
                <a:latin typeface="Aptos"/>
              </a:rPr>
              <a:t>155.34 mΩ</a:t>
            </a:r>
          </a:p>
        </p:txBody>
      </p:sp>
      <p:sp>
        <p:nvSpPr>
          <p:cNvPr id="23" name="Rounded Rectangle 22">
            <a:hlinkClick r:id="rId6"/>
          </p:cNvPr>
          <p:cNvSpPr/>
          <p:nvPr/>
        </p:nvSpPr>
        <p:spPr>
          <a:xfrm>
            <a:off x="10076688" y="1572768"/>
            <a:ext cx="1481328" cy="1005840"/>
          </a:xfrm>
          <a:prstGeom prst="roundRect">
            <a:avLst/>
          </a:prstGeom>
          <a:solidFill>
            <a:srgbClr val="1F3B4D"/>
          </a:solidFill>
          <a:ln w="12700">
            <a:solidFill>
              <a:srgbClr val="EBB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>
            <a:hlinkClick r:id="rId6"/>
          </p:cNvPr>
          <p:cNvSpPr txBox="1"/>
          <p:nvPr/>
        </p:nvSpPr>
        <p:spPr>
          <a:xfrm>
            <a:off x="10204704" y="1682495"/>
            <a:ext cx="1225296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00" b="1">
                <a:solidFill>
                  <a:srgbClr val="EBB539"/>
                </a:solidFill>
                <a:latin typeface="Aptos"/>
              </a:rPr>
              <a:t>MARGIN</a:t>
            </a:r>
          </a:p>
        </p:txBody>
      </p:sp>
      <p:sp>
        <p:nvSpPr>
          <p:cNvPr id="25" name="TextBox 24">
            <a:hlinkClick r:id="rId6"/>
          </p:cNvPr>
          <p:cNvSpPr txBox="1"/>
          <p:nvPr/>
        </p:nvSpPr>
        <p:spPr>
          <a:xfrm>
            <a:off x="10204704" y="1929384"/>
            <a:ext cx="1225296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F7F9FA"/>
                </a:solidFill>
                <a:latin typeface="Aptos"/>
              </a:rPr>
              <a:t>to 160 mΩ</a:t>
            </a:r>
          </a:p>
        </p:txBody>
      </p:sp>
      <p:sp>
        <p:nvSpPr>
          <p:cNvPr id="26" name="TextBox 25">
            <a:hlinkClick r:id="rId6"/>
          </p:cNvPr>
          <p:cNvSpPr txBox="1"/>
          <p:nvPr/>
        </p:nvSpPr>
        <p:spPr>
          <a:xfrm>
            <a:off x="10204704" y="2203704"/>
            <a:ext cx="1225296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DBE6ED"/>
                </a:solidFill>
                <a:latin typeface="Aptos"/>
              </a:rPr>
              <a:t>4.66 mΩ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0048" y="1847088"/>
            <a:ext cx="256032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96AAB8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1847088"/>
            <a:ext cx="256032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96AAB8"/>
                </a:solidFill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927" y="1847088"/>
            <a:ext cx="256032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96AAB8"/>
                </a:solidFill>
                <a:latin typeface="Apto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8" y="1847088"/>
            <a:ext cx="256032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96AAB8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017520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7F9FA"/>
                </a:solidFill>
                <a:latin typeface="Aptos"/>
              </a:rPr>
              <a:t>LOT D risk drivers</a:t>
            </a:r>
          </a:p>
        </p:txBody>
      </p:sp>
      <p:sp>
        <p:nvSpPr>
          <p:cNvPr id="32" name="Rounded Rectangle 31">
            <a:hlinkClick r:id="rId7"/>
          </p:cNvPr>
          <p:cNvSpPr/>
          <p:nvPr/>
        </p:nvSpPr>
        <p:spPr>
          <a:xfrm>
            <a:off x="640080" y="3438144"/>
            <a:ext cx="2542032" cy="1078992"/>
          </a:xfrm>
          <a:prstGeom prst="roundRect">
            <a:avLst/>
          </a:prstGeom>
          <a:solidFill>
            <a:srgbClr val="1F3B4D"/>
          </a:solidFill>
          <a:ln w="12700">
            <a:solidFill>
              <a:srgbClr val="D5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>
            <a:hlinkClick r:id="rId7"/>
          </p:cNvPr>
          <p:cNvSpPr txBox="1"/>
          <p:nvPr/>
        </p:nvSpPr>
        <p:spPr>
          <a:xfrm>
            <a:off x="777240" y="3575304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F7F9FA"/>
                </a:solidFill>
                <a:latin typeface="Aptos"/>
              </a:rPr>
              <a:t>Sulfur</a:t>
            </a:r>
          </a:p>
        </p:txBody>
      </p:sp>
      <p:sp>
        <p:nvSpPr>
          <p:cNvPr id="34" name="TextBox 33">
            <a:hlinkClick r:id="rId7"/>
          </p:cNvPr>
          <p:cNvSpPr txBox="1"/>
          <p:nvPr/>
        </p:nvSpPr>
        <p:spPr>
          <a:xfrm>
            <a:off x="777240" y="3895344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0">
                <a:solidFill>
                  <a:srgbClr val="DBE6ED"/>
                </a:solidFill>
                <a:latin typeface="Aptos"/>
              </a:rPr>
              <a:t>5.0 &gt; 4.0 ppm</a:t>
            </a:r>
          </a:p>
        </p:txBody>
      </p:sp>
      <p:sp>
        <p:nvSpPr>
          <p:cNvPr id="35" name="Rounded Rectangle 34">
            <a:hlinkClick r:id="rId7"/>
          </p:cNvPr>
          <p:cNvSpPr/>
          <p:nvPr/>
        </p:nvSpPr>
        <p:spPr>
          <a:xfrm>
            <a:off x="2532887" y="3557016"/>
            <a:ext cx="493776" cy="310896"/>
          </a:xfrm>
          <a:prstGeom prst="roundRect">
            <a:avLst/>
          </a:prstGeom>
          <a:solidFill>
            <a:srgbClr val="D5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>
            <a:hlinkClick r:id="rId7"/>
          </p:cNvPr>
          <p:cNvSpPr txBox="1"/>
          <p:nvPr/>
        </p:nvSpPr>
        <p:spPr>
          <a:xfrm>
            <a:off x="2532887" y="3575304"/>
            <a:ext cx="493776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7F9FA"/>
                </a:solidFill>
                <a:latin typeface="Aptos"/>
              </a:rPr>
              <a:t>+40</a:t>
            </a:r>
          </a:p>
        </p:txBody>
      </p:sp>
      <p:sp>
        <p:nvSpPr>
          <p:cNvPr id="37" name="Rounded Rectangle 36">
            <a:hlinkClick r:id="rId8"/>
          </p:cNvPr>
          <p:cNvSpPr/>
          <p:nvPr/>
        </p:nvSpPr>
        <p:spPr>
          <a:xfrm>
            <a:off x="3456432" y="3438144"/>
            <a:ext cx="2542032" cy="1078992"/>
          </a:xfrm>
          <a:prstGeom prst="roundRect">
            <a:avLst/>
          </a:prstGeom>
          <a:solidFill>
            <a:srgbClr val="1F3B4D"/>
          </a:solidFill>
          <a:ln w="12700">
            <a:solidFill>
              <a:srgbClr val="BE6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>
            <a:hlinkClick r:id="rId8"/>
          </p:cNvPr>
          <p:cNvSpPr txBox="1"/>
          <p:nvPr/>
        </p:nvSpPr>
        <p:spPr>
          <a:xfrm>
            <a:off x="3593592" y="3575304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F7F9FA"/>
                </a:solidFill>
                <a:latin typeface="Aptos"/>
              </a:rPr>
              <a:t>Conductivity</a:t>
            </a:r>
          </a:p>
        </p:txBody>
      </p:sp>
      <p:sp>
        <p:nvSpPr>
          <p:cNvPr id="39" name="TextBox 38">
            <a:hlinkClick r:id="rId8"/>
          </p:cNvPr>
          <p:cNvSpPr txBox="1"/>
          <p:nvPr/>
        </p:nvSpPr>
        <p:spPr>
          <a:xfrm>
            <a:off x="3593592" y="3895344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0">
                <a:solidFill>
                  <a:srgbClr val="DBE6ED"/>
                </a:solidFill>
                <a:latin typeface="Aptos"/>
              </a:rPr>
              <a:t>97.85 &lt; 100.5 % IACS</a:t>
            </a:r>
          </a:p>
        </p:txBody>
      </p:sp>
      <p:sp>
        <p:nvSpPr>
          <p:cNvPr id="40" name="Rounded Rectangle 39">
            <a:hlinkClick r:id="rId8"/>
          </p:cNvPr>
          <p:cNvSpPr/>
          <p:nvPr/>
        </p:nvSpPr>
        <p:spPr>
          <a:xfrm>
            <a:off x="5349240" y="3557016"/>
            <a:ext cx="493776" cy="310896"/>
          </a:xfrm>
          <a:prstGeom prst="roundRect">
            <a:avLst/>
          </a:prstGeom>
          <a:solidFill>
            <a:srgbClr val="BE6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>
            <a:hlinkClick r:id="rId8"/>
          </p:cNvPr>
          <p:cNvSpPr txBox="1"/>
          <p:nvPr/>
        </p:nvSpPr>
        <p:spPr>
          <a:xfrm>
            <a:off x="5349240" y="3575304"/>
            <a:ext cx="493776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7F9FA"/>
                </a:solidFill>
                <a:latin typeface="Aptos"/>
              </a:rPr>
              <a:t>+25</a:t>
            </a:r>
          </a:p>
        </p:txBody>
      </p:sp>
      <p:sp>
        <p:nvSpPr>
          <p:cNvPr id="42" name="Rounded Rectangle 41">
            <a:hlinkClick r:id="rId6"/>
          </p:cNvPr>
          <p:cNvSpPr/>
          <p:nvPr/>
        </p:nvSpPr>
        <p:spPr>
          <a:xfrm>
            <a:off x="6272784" y="3438144"/>
            <a:ext cx="2542032" cy="1078992"/>
          </a:xfrm>
          <a:prstGeom prst="roundRect">
            <a:avLst/>
          </a:prstGeom>
          <a:solidFill>
            <a:srgbClr val="1F3B4D"/>
          </a:solidFill>
          <a:ln w="12700">
            <a:solidFill>
              <a:srgbClr val="48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>
            <a:hlinkClick r:id="rId6"/>
          </p:cNvPr>
          <p:cNvSpPr txBox="1"/>
          <p:nvPr/>
        </p:nvSpPr>
        <p:spPr>
          <a:xfrm>
            <a:off x="6409944" y="3575304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F7F9FA"/>
                </a:solidFill>
                <a:latin typeface="Aptos"/>
              </a:rPr>
              <a:t>Resistance margin</a:t>
            </a:r>
          </a:p>
        </p:txBody>
      </p:sp>
      <p:sp>
        <p:nvSpPr>
          <p:cNvPr id="44" name="TextBox 43">
            <a:hlinkClick r:id="rId6"/>
          </p:cNvPr>
          <p:cNvSpPr txBox="1"/>
          <p:nvPr/>
        </p:nvSpPr>
        <p:spPr>
          <a:xfrm>
            <a:off x="6409944" y="3895344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0">
                <a:solidFill>
                  <a:srgbClr val="DBE6ED"/>
                </a:solidFill>
                <a:latin typeface="Aptos"/>
              </a:rPr>
              <a:t>4.66 mΩ &lt; 10 mΩ</a:t>
            </a:r>
          </a:p>
        </p:txBody>
      </p:sp>
      <p:sp>
        <p:nvSpPr>
          <p:cNvPr id="45" name="Rounded Rectangle 44">
            <a:hlinkClick r:id="rId6"/>
          </p:cNvPr>
          <p:cNvSpPr/>
          <p:nvPr/>
        </p:nvSpPr>
        <p:spPr>
          <a:xfrm>
            <a:off x="8165592" y="3557016"/>
            <a:ext cx="493776" cy="310896"/>
          </a:xfrm>
          <a:prstGeom prst="roundRect">
            <a:avLst/>
          </a:prstGeom>
          <a:solidFill>
            <a:srgbClr val="488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>
            <a:hlinkClick r:id="rId6"/>
          </p:cNvPr>
          <p:cNvSpPr txBox="1"/>
          <p:nvPr/>
        </p:nvSpPr>
        <p:spPr>
          <a:xfrm>
            <a:off x="8165592" y="3575304"/>
            <a:ext cx="493776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7F9FA"/>
                </a:solidFill>
                <a:latin typeface="Aptos"/>
              </a:rPr>
              <a:t>+15</a:t>
            </a:r>
          </a:p>
        </p:txBody>
      </p:sp>
      <p:sp>
        <p:nvSpPr>
          <p:cNvPr id="47" name="Rounded Rectangle 46">
            <a:hlinkClick r:id="rId9"/>
          </p:cNvPr>
          <p:cNvSpPr/>
          <p:nvPr/>
        </p:nvSpPr>
        <p:spPr>
          <a:xfrm>
            <a:off x="9089136" y="3438144"/>
            <a:ext cx="2542032" cy="1078992"/>
          </a:xfrm>
          <a:prstGeom prst="roundRect">
            <a:avLst/>
          </a:prstGeom>
          <a:solidFill>
            <a:srgbClr val="1F3B4D"/>
          </a:solidFill>
          <a:ln w="12700">
            <a:solidFill>
              <a:srgbClr val="EBB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>
            <a:hlinkClick r:id="rId9"/>
          </p:cNvPr>
          <p:cNvSpPr txBox="1"/>
          <p:nvPr/>
        </p:nvSpPr>
        <p:spPr>
          <a:xfrm>
            <a:off x="9226296" y="3575304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1">
                <a:solidFill>
                  <a:srgbClr val="F7F9FA"/>
                </a:solidFill>
                <a:latin typeface="Aptos"/>
              </a:rPr>
              <a:t>PCN exception</a:t>
            </a:r>
          </a:p>
        </p:txBody>
      </p:sp>
      <p:sp>
        <p:nvSpPr>
          <p:cNvPr id="49" name="TextBox 48">
            <a:hlinkClick r:id="rId9"/>
          </p:cNvPr>
          <p:cNvSpPr txBox="1"/>
          <p:nvPr/>
        </p:nvSpPr>
        <p:spPr>
          <a:xfrm>
            <a:off x="9226296" y="3895344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0">
                <a:solidFill>
                  <a:srgbClr val="DBE6ED"/>
                </a:solidFill>
                <a:latin typeface="Aptos"/>
              </a:rPr>
              <a:t>17.8 ≥ 17.5 µm</a:t>
            </a:r>
          </a:p>
        </p:txBody>
      </p:sp>
      <p:sp>
        <p:nvSpPr>
          <p:cNvPr id="50" name="Rounded Rectangle 49">
            <a:hlinkClick r:id="rId9"/>
          </p:cNvPr>
          <p:cNvSpPr/>
          <p:nvPr/>
        </p:nvSpPr>
        <p:spPr>
          <a:xfrm>
            <a:off x="10981944" y="3557016"/>
            <a:ext cx="493776" cy="310896"/>
          </a:xfrm>
          <a:prstGeom prst="roundRect">
            <a:avLst/>
          </a:prstGeom>
          <a:solidFill>
            <a:srgbClr val="EB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>
            <a:hlinkClick r:id="rId9"/>
          </p:cNvPr>
          <p:cNvSpPr txBox="1"/>
          <p:nvPr/>
        </p:nvSpPr>
        <p:spPr>
          <a:xfrm>
            <a:off x="10981944" y="3575304"/>
            <a:ext cx="493776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0F2337"/>
                </a:solidFill>
                <a:latin typeface="Aptos"/>
              </a:rPr>
              <a:t>+8</a:t>
            </a:r>
          </a:p>
        </p:txBody>
      </p:sp>
      <p:sp>
        <p:nvSpPr>
          <p:cNvPr id="52" name="Rounded Rectangle 51">
            <a:hlinkClick r:id="rId10"/>
          </p:cNvPr>
          <p:cNvSpPr/>
          <p:nvPr/>
        </p:nvSpPr>
        <p:spPr>
          <a:xfrm>
            <a:off x="640080" y="4901184"/>
            <a:ext cx="10954512" cy="1078992"/>
          </a:xfrm>
          <a:prstGeom prst="roundRect">
            <a:avLst/>
          </a:prstGeom>
          <a:solidFill>
            <a:srgbClr val="372A31"/>
          </a:solidFill>
          <a:ln w="12700">
            <a:solidFill>
              <a:srgbClr val="D5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>
            <a:hlinkClick r:id="rId10"/>
          </p:cNvPr>
          <p:cNvSpPr txBox="1"/>
          <p:nvPr/>
        </p:nvSpPr>
        <p:spPr>
          <a:xfrm>
            <a:off x="896112" y="5166360"/>
            <a:ext cx="105156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900" b="1">
                <a:solidFill>
                  <a:srgbClr val="F7F9FA"/>
                </a:solidFill>
                <a:latin typeface="Aptos"/>
              </a:rPr>
              <a:t>LOT D</a:t>
            </a:r>
          </a:p>
        </p:txBody>
      </p:sp>
      <p:sp>
        <p:nvSpPr>
          <p:cNvPr id="54" name="TextBox 53">
            <a:hlinkClick r:id="rId11"/>
          </p:cNvPr>
          <p:cNvSpPr txBox="1"/>
          <p:nvPr/>
        </p:nvSpPr>
        <p:spPr>
          <a:xfrm>
            <a:off x="2011680" y="5029200"/>
            <a:ext cx="100584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3400" b="1">
                <a:solidFill>
                  <a:srgbClr val="D54C46"/>
                </a:solidFill>
                <a:latin typeface="Aptos"/>
              </a:rPr>
              <a:t>88</a:t>
            </a:r>
          </a:p>
        </p:txBody>
      </p:sp>
      <p:sp>
        <p:nvSpPr>
          <p:cNvPr id="55" name="TextBox 54">
            <a:hlinkClick r:id="rId12"/>
          </p:cNvPr>
          <p:cNvSpPr txBox="1"/>
          <p:nvPr/>
        </p:nvSpPr>
        <p:spPr>
          <a:xfrm>
            <a:off x="3154680" y="5157216"/>
            <a:ext cx="1005840" cy="31089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800" b="1">
                <a:solidFill>
                  <a:srgbClr val="D54C46"/>
                </a:solidFill>
                <a:latin typeface="Aptos"/>
              </a:rPr>
              <a:t>HOLD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34840" y="5157216"/>
            <a:ext cx="67208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7F9FA"/>
                </a:solidFill>
                <a:latin typeface="Aptos"/>
              </a:rPr>
              <a:t>Chemistry + electrical + narrow resistance margin + documented exception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547104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96AAB8"/>
                </a:solidFill>
                <a:latin typeface="Aptos"/>
              </a:rPr>
              <a:t>CU-JULY-2026-QUAL  •  24 JUL 2026  •  MODEL-DERIVED VISUAL READOUT</a:t>
            </a:r>
          </a:p>
        </p:txBody>
      </p:sp>
      <p:sp>
        <p:nvSpPr>
          <p:cNvPr id="58" name="TextBox 57">
            <a:hlinkClick r:id="rId13"/>
          </p:cNvPr>
          <p:cNvSpPr txBox="1"/>
          <p:nvPr/>
        </p:nvSpPr>
        <p:spPr>
          <a:xfrm>
            <a:off x="8275320" y="6510528"/>
            <a:ext cx="331012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E0975C"/>
                </a:solidFill>
                <a:latin typeface="Aptos"/>
              </a:rPr>
              <a:t>technical_findings_matrix.xlsx  ·  Calculations!P5 → J21:L21 → O74:P74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8638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E0975C"/>
                </a:solidFill>
                <a:latin typeface="Aptos"/>
              </a:rPr>
              <a:t>SENSITIVITY COMPARISONS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78992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300" b="1">
                <a:solidFill>
                  <a:srgbClr val="F7F9FA"/>
                </a:solidFill>
                <a:latin typeface="Aptos"/>
              </a:rPr>
              <a:t>Same inputs. Only the stated scenario switch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100" b="1">
                <a:solidFill>
                  <a:srgbClr val="96AAB8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07008"/>
            <a:ext cx="10991088" cy="18288"/>
          </a:xfrm>
          <a:prstGeom prst="rect">
            <a:avLst/>
          </a:prstGeom>
          <a:solidFill>
            <a:srgbClr val="39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658368" y="1353312"/>
            <a:ext cx="1920240" cy="310896"/>
          </a:xfrm>
          <a:prstGeom prst="roundRect">
            <a:avLst/>
          </a:prstGeom>
          <a:solidFill>
            <a:srgbClr val="D5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>
            <a:hlinkClick r:id="rId2"/>
          </p:cNvPr>
          <p:cNvSpPr txBox="1"/>
          <p:nvPr/>
        </p:nvSpPr>
        <p:spPr>
          <a:xfrm>
            <a:off x="658368" y="1371600"/>
            <a:ext cx="1920240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7F9FA"/>
                </a:solidFill>
                <a:latin typeface="Aptos"/>
              </a:rPr>
              <a:t>LOT D baseline 88 · HOLD</a:t>
            </a:r>
          </a:p>
        </p:txBody>
      </p:sp>
      <p:sp>
        <p:nvSpPr>
          <p:cNvPr id="9" name="Rounded Rectangle 8">
            <a:hlinkClick r:id="rId3"/>
          </p:cNvPr>
          <p:cNvSpPr/>
          <p:nvPr/>
        </p:nvSpPr>
        <p:spPr>
          <a:xfrm>
            <a:off x="2724912" y="1353312"/>
            <a:ext cx="2487168" cy="310896"/>
          </a:xfrm>
          <a:prstGeom prst="roundRect">
            <a:avLst/>
          </a:prstGeom>
          <a:solidFill>
            <a:srgbClr val="EB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r:id="rId3"/>
          </p:cNvPr>
          <p:cNvSpPr txBox="1"/>
          <p:nvPr/>
        </p:nvSpPr>
        <p:spPr>
          <a:xfrm>
            <a:off x="2724912" y="1371600"/>
            <a:ext cx="2487168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0F2337"/>
                </a:solidFill>
                <a:latin typeface="Aptos"/>
              </a:rPr>
              <a:t>LOT B baseline 12 · CONDITIONAL</a:t>
            </a:r>
          </a:p>
        </p:txBody>
      </p:sp>
      <p:sp>
        <p:nvSpPr>
          <p:cNvPr id="11" name="Rounded Rectangle 10">
            <a:hlinkClick r:id="rId4"/>
          </p:cNvPr>
          <p:cNvSpPr/>
          <p:nvPr/>
        </p:nvSpPr>
        <p:spPr>
          <a:xfrm>
            <a:off x="658368" y="1874519"/>
            <a:ext cx="3401568" cy="3127248"/>
          </a:xfrm>
          <a:prstGeom prst="roundRect">
            <a:avLst/>
          </a:prstGeom>
          <a:solidFill>
            <a:srgbClr val="1F3B4D"/>
          </a:solidFill>
          <a:ln w="12700">
            <a:solidFill>
              <a:srgbClr val="395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>
            <a:hlinkClick r:id="rId5"/>
          </p:cNvPr>
          <p:cNvSpPr txBox="1"/>
          <p:nvPr/>
        </p:nvSpPr>
        <p:spPr>
          <a:xfrm>
            <a:off x="841247" y="2048256"/>
            <a:ext cx="2999232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F7F9FA"/>
                </a:solidFill>
                <a:latin typeface="Aptos"/>
              </a:rPr>
              <a:t>No oxygen waiver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743200"/>
            <a:ext cx="6858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96AAB8"/>
                </a:solidFill>
                <a:latin typeface="Aptos"/>
              </a:rPr>
              <a:t>LOT D</a:t>
            </a:r>
          </a:p>
        </p:txBody>
      </p:sp>
      <p:sp>
        <p:nvSpPr>
          <p:cNvPr id="14" name="Rounded Rectangle 13">
            <a:hlinkClick r:id="rId6"/>
          </p:cNvPr>
          <p:cNvSpPr/>
          <p:nvPr/>
        </p:nvSpPr>
        <p:spPr>
          <a:xfrm>
            <a:off x="1591056" y="2660904"/>
            <a:ext cx="1280160" cy="310896"/>
          </a:xfrm>
          <a:prstGeom prst="roundRect">
            <a:avLst/>
          </a:prstGeom>
          <a:solidFill>
            <a:srgbClr val="D5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>
            <a:hlinkClick r:id="rId6"/>
          </p:cNvPr>
          <p:cNvSpPr txBox="1"/>
          <p:nvPr/>
        </p:nvSpPr>
        <p:spPr>
          <a:xfrm>
            <a:off x="1591056" y="2679192"/>
            <a:ext cx="1280160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7F9FA"/>
                </a:solidFill>
                <a:latin typeface="Aptos"/>
              </a:rPr>
              <a:t>88 · 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2724912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100" b="1">
                <a:solidFill>
                  <a:srgbClr val="F7F9FA"/>
                </a:solidFill>
                <a:latin typeface="Aptos"/>
              </a:rPr>
              <a:t>Δ +0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255264"/>
            <a:ext cx="6858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96AAB8"/>
                </a:solidFill>
                <a:latin typeface="Aptos"/>
              </a:rPr>
              <a:t>LOT B</a:t>
            </a:r>
          </a:p>
        </p:txBody>
      </p:sp>
      <p:sp>
        <p:nvSpPr>
          <p:cNvPr id="18" name="Rounded Rectangle 17">
            <a:hlinkClick r:id="rId7"/>
          </p:cNvPr>
          <p:cNvSpPr/>
          <p:nvPr/>
        </p:nvSpPr>
        <p:spPr>
          <a:xfrm>
            <a:off x="1591056" y="3172968"/>
            <a:ext cx="1572768" cy="310896"/>
          </a:xfrm>
          <a:prstGeom prst="roundRect">
            <a:avLst/>
          </a:prstGeom>
          <a:solidFill>
            <a:srgbClr val="EB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>
            <a:hlinkClick r:id="rId7"/>
          </p:cNvPr>
          <p:cNvSpPr txBox="1"/>
          <p:nvPr/>
        </p:nvSpPr>
        <p:spPr>
          <a:xfrm>
            <a:off x="1591056" y="3191256"/>
            <a:ext cx="1572768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0F2337"/>
                </a:solidFill>
                <a:latin typeface="Aptos"/>
              </a:rPr>
              <a:t>44 · CONDITIONAL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2384" y="323697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100" b="1">
                <a:solidFill>
                  <a:srgbClr val="F7F9FA"/>
                </a:solidFill>
                <a:latin typeface="Aptos"/>
              </a:rPr>
              <a:t>Δ +32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3858768"/>
            <a:ext cx="2999232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DBE6ED"/>
                </a:solidFill>
                <a:latin typeface="Aptos"/>
              </a:rPr>
              <a:t>B oxygen flips to FAIL; score rises 12 → 44.</a:t>
            </a:r>
          </a:p>
        </p:txBody>
      </p:sp>
      <p:sp>
        <p:nvSpPr>
          <p:cNvPr id="22" name="Rounded Rectangle 21">
            <a:hlinkClick r:id="rId8"/>
          </p:cNvPr>
          <p:cNvSpPr/>
          <p:nvPr/>
        </p:nvSpPr>
        <p:spPr>
          <a:xfrm>
            <a:off x="4379976" y="1874519"/>
            <a:ext cx="3401568" cy="3127248"/>
          </a:xfrm>
          <a:prstGeom prst="roundRect">
            <a:avLst/>
          </a:prstGeom>
          <a:solidFill>
            <a:srgbClr val="1F3B4D"/>
          </a:solidFill>
          <a:ln w="12700">
            <a:solidFill>
              <a:srgbClr val="395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>
            <a:hlinkClick r:id="rId9"/>
          </p:cNvPr>
          <p:cNvSpPr txBox="1"/>
          <p:nvPr/>
        </p:nvSpPr>
        <p:spPr>
          <a:xfrm>
            <a:off x="4562856" y="2048256"/>
            <a:ext cx="2999232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7F9FA"/>
                </a:solidFill>
                <a:latin typeface="Aptos"/>
              </a:rPr>
              <a:t>No process change notice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743200"/>
            <a:ext cx="6858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96AAB8"/>
                </a:solidFill>
                <a:latin typeface="Aptos"/>
              </a:rPr>
              <a:t>LOT D</a:t>
            </a:r>
          </a:p>
        </p:txBody>
      </p:sp>
      <p:sp>
        <p:nvSpPr>
          <p:cNvPr id="25" name="Rounded Rectangle 24">
            <a:hlinkClick r:id="rId10"/>
          </p:cNvPr>
          <p:cNvSpPr/>
          <p:nvPr/>
        </p:nvSpPr>
        <p:spPr>
          <a:xfrm>
            <a:off x="5312664" y="2660904"/>
            <a:ext cx="1280160" cy="310896"/>
          </a:xfrm>
          <a:prstGeom prst="roundRect">
            <a:avLst/>
          </a:prstGeom>
          <a:solidFill>
            <a:srgbClr val="D5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r:id="rId10"/>
          </p:cNvPr>
          <p:cNvSpPr txBox="1"/>
          <p:nvPr/>
        </p:nvSpPr>
        <p:spPr>
          <a:xfrm>
            <a:off x="5312664" y="2679192"/>
            <a:ext cx="1280160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7F9FA"/>
                </a:solidFill>
                <a:latin typeface="Aptos"/>
              </a:rPr>
              <a:t>80 · HOLD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2724912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100" b="1">
                <a:solidFill>
                  <a:srgbClr val="F7F9FA"/>
                </a:solidFill>
                <a:latin typeface="Aptos"/>
              </a:rPr>
              <a:t>Δ -8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3255264"/>
            <a:ext cx="6858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96AAB8"/>
                </a:solidFill>
                <a:latin typeface="Aptos"/>
              </a:rPr>
              <a:t>LOT B</a:t>
            </a:r>
          </a:p>
        </p:txBody>
      </p:sp>
      <p:sp>
        <p:nvSpPr>
          <p:cNvPr id="29" name="Rounded Rectangle 28">
            <a:hlinkClick r:id="rId11"/>
          </p:cNvPr>
          <p:cNvSpPr/>
          <p:nvPr/>
        </p:nvSpPr>
        <p:spPr>
          <a:xfrm>
            <a:off x="5312664" y="3172968"/>
            <a:ext cx="1572768" cy="310896"/>
          </a:xfrm>
          <a:prstGeom prst="roundRect">
            <a:avLst/>
          </a:prstGeom>
          <a:solidFill>
            <a:srgbClr val="EB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>
            <a:hlinkClick r:id="rId11"/>
          </p:cNvPr>
          <p:cNvSpPr txBox="1"/>
          <p:nvPr/>
        </p:nvSpPr>
        <p:spPr>
          <a:xfrm>
            <a:off x="5312664" y="3191256"/>
            <a:ext cx="1572768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0F2337"/>
                </a:solidFill>
                <a:latin typeface="Aptos"/>
              </a:rPr>
              <a:t>12 · CONDITIONAL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3992" y="323697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100" b="1">
                <a:solidFill>
                  <a:srgbClr val="F7F9FA"/>
                </a:solidFill>
                <a:latin typeface="Aptos"/>
              </a:rPr>
              <a:t>Δ +0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3858768"/>
            <a:ext cx="2999232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DBE6ED"/>
                </a:solidFill>
                <a:latin typeface="Aptos"/>
              </a:rPr>
              <a:t>D thickness flips to FAIL; exception points drop.</a:t>
            </a:r>
          </a:p>
        </p:txBody>
      </p:sp>
      <p:sp>
        <p:nvSpPr>
          <p:cNvPr id="33" name="Rounded Rectangle 32">
            <a:hlinkClick r:id="rId12"/>
          </p:cNvPr>
          <p:cNvSpPr/>
          <p:nvPr/>
        </p:nvSpPr>
        <p:spPr>
          <a:xfrm>
            <a:off x="8101584" y="1874519"/>
            <a:ext cx="3401568" cy="3127248"/>
          </a:xfrm>
          <a:prstGeom prst="roundRect">
            <a:avLst/>
          </a:prstGeom>
          <a:solidFill>
            <a:srgbClr val="1F3B4D"/>
          </a:solidFill>
          <a:ln w="12700">
            <a:solidFill>
              <a:srgbClr val="395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>
            <a:hlinkClick r:id="rId13"/>
          </p:cNvPr>
          <p:cNvSpPr txBox="1"/>
          <p:nvPr/>
        </p:nvSpPr>
        <p:spPr>
          <a:xfrm>
            <a:off x="8284464" y="2048256"/>
            <a:ext cx="2999232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F7F9FA"/>
                </a:solidFill>
                <a:latin typeface="Aptos"/>
              </a:rPr>
              <a:t>95 C service stress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4464" y="2743200"/>
            <a:ext cx="6858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96AAB8"/>
                </a:solidFill>
                <a:latin typeface="Aptos"/>
              </a:rPr>
              <a:t>LOT D</a:t>
            </a:r>
          </a:p>
        </p:txBody>
      </p:sp>
      <p:sp>
        <p:nvSpPr>
          <p:cNvPr id="36" name="Rounded Rectangle 35">
            <a:hlinkClick r:id="rId14"/>
          </p:cNvPr>
          <p:cNvSpPr/>
          <p:nvPr/>
        </p:nvSpPr>
        <p:spPr>
          <a:xfrm>
            <a:off x="9034272" y="2660904"/>
            <a:ext cx="1280160" cy="310896"/>
          </a:xfrm>
          <a:prstGeom prst="roundRect">
            <a:avLst/>
          </a:prstGeom>
          <a:solidFill>
            <a:srgbClr val="D5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>
            <a:hlinkClick r:id="rId14"/>
          </p:cNvPr>
          <p:cNvSpPr txBox="1"/>
          <p:nvPr/>
        </p:nvSpPr>
        <p:spPr>
          <a:xfrm>
            <a:off x="9034272" y="2679192"/>
            <a:ext cx="1280160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7F9FA"/>
                </a:solidFill>
                <a:latin typeface="Aptos"/>
              </a:rPr>
              <a:t>88 · HOLD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2724912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100" b="1">
                <a:solidFill>
                  <a:srgbClr val="F7F9FA"/>
                </a:solidFill>
                <a:latin typeface="Aptos"/>
              </a:rPr>
              <a:t>Δ +0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4" y="3255264"/>
            <a:ext cx="68580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96AAB8"/>
                </a:solidFill>
                <a:latin typeface="Aptos"/>
              </a:rPr>
              <a:t>LOT B</a:t>
            </a:r>
          </a:p>
        </p:txBody>
      </p:sp>
      <p:sp>
        <p:nvSpPr>
          <p:cNvPr id="40" name="Rounded Rectangle 39">
            <a:hlinkClick r:id="rId15"/>
          </p:cNvPr>
          <p:cNvSpPr/>
          <p:nvPr/>
        </p:nvSpPr>
        <p:spPr>
          <a:xfrm>
            <a:off x="9034272" y="3172968"/>
            <a:ext cx="1572768" cy="310896"/>
          </a:xfrm>
          <a:prstGeom prst="roundRect">
            <a:avLst/>
          </a:prstGeom>
          <a:solidFill>
            <a:srgbClr val="EBB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>
            <a:hlinkClick r:id="rId15"/>
          </p:cNvPr>
          <p:cNvSpPr txBox="1"/>
          <p:nvPr/>
        </p:nvSpPr>
        <p:spPr>
          <a:xfrm>
            <a:off x="9034272" y="3191256"/>
            <a:ext cx="1572768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0F2337"/>
                </a:solidFill>
                <a:latin typeface="Aptos"/>
              </a:rPr>
              <a:t>12 · CONDITIONAL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323697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1100" b="1">
                <a:solidFill>
                  <a:srgbClr val="F7F9FA"/>
                </a:solidFill>
                <a:latin typeface="Aptos"/>
              </a:rPr>
              <a:t>Δ +0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3858768"/>
            <a:ext cx="2999232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DBE6ED"/>
                </a:solidFill>
                <a:latin typeface="Aptos"/>
              </a:rPr>
              <a:t>D resistance flips to FAIL at 95 °C; score already carries margin flag.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358384"/>
            <a:ext cx="10908792" cy="804672"/>
          </a:xfrm>
          <a:prstGeom prst="roundRect">
            <a:avLst/>
          </a:prstGeom>
          <a:solidFill>
            <a:srgbClr val="323730"/>
          </a:solidFill>
          <a:ln w="12700">
            <a:solidFill>
              <a:srgbClr val="EBB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577840"/>
            <a:ext cx="10405872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>
                <a:solidFill>
                  <a:srgbClr val="F7F9FA"/>
                </a:solidFill>
                <a:latin typeface="Aptos"/>
              </a:rPr>
              <a:t>Sensitivity does not create new evidence rows: it reuses the selected resistivity, assays, geometry, controlled limits, weights, and thresholds from Inputs.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547104"/>
            <a:ext cx="77724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96AAB8"/>
                </a:solidFill>
                <a:latin typeface="Aptos"/>
              </a:rPr>
              <a:t>CU-JULY-2026-QUAL  •  24 JUL 2026  •  MODEL-DERIVED VISUAL READOUT</a:t>
            </a:r>
          </a:p>
        </p:txBody>
      </p:sp>
      <p:sp>
        <p:nvSpPr>
          <p:cNvPr id="47" name="TextBox 46">
            <a:hlinkClick r:id="rId16"/>
          </p:cNvPr>
          <p:cNvSpPr txBox="1"/>
          <p:nvPr/>
        </p:nvSpPr>
        <p:spPr>
          <a:xfrm>
            <a:off x="8275320" y="6510528"/>
            <a:ext cx="3310128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E0975C"/>
                </a:solidFill>
                <a:latin typeface="Aptos"/>
              </a:rPr>
              <a:t>technical_findings_matrix.xlsx  ·  Scenarios!A4:AA7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July 2026 Copper Qualification Readout</dc:title>
  <dc:subject>Visual readout sourced directly from technical_findings_matrix.xlsx</dc:subject>
  <dc:creator>OpenAI Codex</dc:creator>
  <cp:keywords>CU-JULY-2026-QUAL, copper, qualification, risk, model-derived</cp:keywords>
  <dc:description>All displayed scores and technical values were read from technical_findings_matrix.xlsx. Model checks passed: True.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