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Margin mOhm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Governed 85 C</c:v>
                </c:pt>
                <c:pt idx="1">
                  <c:v>Room temp shortcut</c:v>
                </c:pt>
                <c:pt idx="2">
                  <c:v>Old Rev. 1 limit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4.6556952247190395</c:v>
                </c:pt>
                <c:pt idx="1">
                  <c:v>36.26404494382018</c:v>
                </c:pt>
                <c:pt idx="2">
                  <c:v>14.65569522471904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/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/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/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/>
            </a:r>
          </a:p>
          <a:p>
            <a:pPr lvl="1"/>
            <a:r>
              <a:rPr lang="en-US" smtClean="0"/>
              <a:t/>
            </a:r>
          </a:p>
          <a:p>
            <a:pPr lvl="2"/>
            <a:r>
              <a:rPr lang="en-US" smtClean="0"/>
              <a:t/>
            </a:r>
          </a:p>
          <a:p>
            <a:pPr lvl="3"/>
            <a:r>
              <a:rPr lang="en-US" smtClean="0"/>
              <a:t/>
            </a:r>
          </a:p>
          <a:p>
            <a:pPr lvl="4"/>
            <a:r>
              <a:rPr lang="en-US" smtClean="0"/>
              <a:t/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/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/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/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/>
            </a:r>
          </a:p>
          <a:p>
            <a:pPr lvl="1"/>
            <a:r>
              <a:rPr lang="en-US" smtClean="0"/>
              <a:t/>
            </a:r>
          </a:p>
          <a:p>
            <a:pPr lvl="2"/>
            <a:r>
              <a:rPr lang="en-US" smtClean="0"/>
              <a:t/>
            </a:r>
          </a:p>
          <a:p>
            <a:pPr lvl="3"/>
            <a:r>
              <a:rPr lang="en-US" smtClean="0"/>
              <a:t/>
            </a:r>
          </a:p>
          <a:p>
            <a:pPr lvl="4"/>
            <a:r>
              <a:rPr lang="en-US" smtClean="0"/>
              <a:t/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/>
            </a:r>
          </a:p>
          <a:p>
            <a:pPr lvl="1"/>
            <a:r>
              <a:rPr lang="en-US" smtClean="0"/>
              <a:t/>
            </a:r>
          </a:p>
          <a:p>
            <a:pPr lvl="2"/>
            <a:r>
              <a:rPr lang="en-US" smtClean="0"/>
              <a:t/>
            </a:r>
          </a:p>
          <a:p>
            <a:pPr lvl="3"/>
            <a:r>
              <a:rPr lang="en-US" smtClean="0"/>
              <a:t/>
            </a:r>
          </a:p>
          <a:p>
            <a:pPr lvl="4"/>
            <a:r>
              <a:rPr lang="en-US" smtClean="0"/>
              <a:t/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/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/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/>
            </a:r>
          </a:p>
          <a:p>
            <a:pPr lvl="1"/>
            <a:r>
              <a:rPr lang="en-US" smtClean="0"/>
              <a:t/>
            </a:r>
          </a:p>
          <a:p>
            <a:pPr lvl="2"/>
            <a:r>
              <a:rPr lang="en-US" smtClean="0"/>
              <a:t/>
            </a:r>
          </a:p>
          <a:p>
            <a:pPr lvl="3"/>
            <a:r>
              <a:rPr lang="en-US" smtClean="0"/>
              <a:t/>
            </a:r>
          </a:p>
          <a:p>
            <a:pPr lvl="4"/>
            <a:r>
              <a:rPr lang="en-US" smtClean="0"/>
              <a:t/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/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/>
            </a:r>
          </a:p>
          <a:p>
            <a:pPr lvl="1"/>
            <a:r>
              <a:rPr lang="en-US" smtClean="0"/>
              <a:t/>
            </a:r>
          </a:p>
          <a:p>
            <a:pPr lvl="2"/>
            <a:r>
              <a:rPr lang="en-US" smtClean="0"/>
              <a:t/>
            </a:r>
          </a:p>
          <a:p>
            <a:pPr lvl="3"/>
            <a:r>
              <a:rPr lang="en-US" smtClean="0"/>
              <a:t/>
            </a:r>
          </a:p>
          <a:p>
            <a:pPr lvl="4"/>
            <a:r>
              <a:rPr lang="en-US" smtClean="0"/>
              <a:t/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/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/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/>
            </a:r>
          </a:p>
          <a:p>
            <a:pPr lvl="1"/>
            <a:r>
              <a:rPr lang="en-US" smtClean="0"/>
              <a:t/>
            </a:r>
          </a:p>
          <a:p>
            <a:pPr lvl="2"/>
            <a:r>
              <a:rPr lang="en-US" smtClean="0"/>
              <a:t/>
            </a:r>
          </a:p>
          <a:p>
            <a:pPr lvl="3"/>
            <a:r>
              <a:rPr lang="en-US" smtClean="0"/>
              <a:t/>
            </a:r>
          </a:p>
          <a:p>
            <a:pPr lvl="4"/>
            <a:r>
              <a:rPr lang="en-US" smtClean="0"/>
              <a:t/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/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/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/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/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/>
            </a:r>
          </a:p>
          <a:p>
            <a:pPr lvl="1"/>
            <a:r>
              <a:rPr lang="en-US" smtClean="0"/>
              <a:t/>
            </a:r>
          </a:p>
          <a:p>
            <a:pPr lvl="2"/>
            <a:r>
              <a:rPr lang="en-US" smtClean="0"/>
              <a:t/>
            </a:r>
          </a:p>
          <a:p>
            <a:pPr lvl="3"/>
            <a:r>
              <a:rPr lang="en-US" smtClean="0"/>
              <a:t/>
            </a:r>
          </a:p>
          <a:p>
            <a:pPr lvl="4"/>
            <a:r>
              <a:rPr lang="en-US" smtClean="0"/>
              <a:t/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/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/>
            </a:r>
          </a:p>
          <a:p>
            <a:pPr lvl="1"/>
            <a:r>
              <a:rPr lang="en-US" smtClean="0"/>
              <a:t/>
            </a:r>
          </a:p>
          <a:p>
            <a:pPr lvl="2"/>
            <a:r>
              <a:rPr lang="en-US" smtClean="0"/>
              <a:t/>
            </a:r>
          </a:p>
          <a:p>
            <a:pPr lvl="3"/>
            <a:r>
              <a:rPr lang="en-US" smtClean="0"/>
              <a:t/>
            </a:r>
          </a:p>
          <a:p>
            <a:pPr lvl="4"/>
            <a:r>
              <a:rPr lang="en-US" smtClean="0"/>
              <a:t/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/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/>
            </a:r>
          </a:p>
          <a:p>
            <a:pPr lvl="1"/>
            <a:r>
              <a:rPr lang="en-US" smtClean="0"/>
              <a:t/>
            </a:r>
          </a:p>
          <a:p>
            <a:pPr lvl="2"/>
            <a:r>
              <a:rPr lang="en-US" smtClean="0"/>
              <a:t/>
            </a:r>
          </a:p>
          <a:p>
            <a:pPr lvl="3"/>
            <a:r>
              <a:rPr lang="en-US" smtClean="0"/>
              <a:t/>
            </a:r>
          </a:p>
          <a:p>
            <a:pPr lvl="4"/>
            <a:r>
              <a:rPr lang="en-US" smtClean="0"/>
              <a:t/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D3557"/>
                </a:solidFill>
              </a:rPr>
              <a:t>July Copper Qualification Readout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8912" y="640080"/>
            <a:ext cx="109728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22333B"/>
                </a:solidFill>
              </a:rPr>
              <a:t>source_register.xlsx -&gt; technical_findings_matrix.xlsx -&gt; qualification_readout.pptx -&gt; risk_assessment.docx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2468880" cy="914400"/>
          </a:xfrm>
          <a:prstGeom prst="rect">
            <a:avLst/>
          </a:prstGeom>
          <a:solidFill>
            <a:srgbClr val="A8DADC"/>
          </a:solidFill>
          <a:ln w="10160"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22333B"/>
                </a:solidFill>
              </a:rPr>
              <a:t>13
material identities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46120" y="1234440"/>
            <a:ext cx="2468880" cy="914400"/>
          </a:xfrm>
          <a:prstGeom prst="rect">
            <a:avLst/>
          </a:prstGeom>
          <a:solidFill>
            <a:srgbClr val="E63946"/>
          </a:solidFill>
          <a:ln w="10160"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22333B"/>
                </a:solidFill>
              </a:rPr>
              <a:t>2
held lots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234440"/>
            <a:ext cx="2468880" cy="914400"/>
          </a:xfrm>
          <a:prstGeom prst="rect">
            <a:avLst/>
          </a:prstGeom>
          <a:solidFill>
            <a:srgbClr val="E09F3E"/>
          </a:solidFill>
          <a:ln w="10160"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22333B"/>
                </a:solidFill>
              </a:rPr>
              <a:t>1
conditional release</a:t>
            </a:r>
          </a:p>
        </p:txBody>
      </p:sp>
      <p:sp>
        <p:nvSpPr>
          <p:cNvPr id="7" name="Rectangle 6"/>
          <p:cNvSpPr/>
          <p:nvPr/>
        </p:nvSpPr>
        <p:spPr>
          <a:xfrm>
            <a:off x="8641080" y="1234440"/>
            <a:ext cx="2468880" cy="914400"/>
          </a:xfrm>
          <a:prstGeom prst="rect">
            <a:avLst/>
          </a:prstGeom>
          <a:solidFill>
            <a:srgbClr val="F5F3F4"/>
          </a:solidFill>
          <a:ln w="10160"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2333B"/>
                </a:solidFill>
              </a:rPr>
              <a:t>LOT-CU-2607-D
top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88920"/>
            <a:ext cx="11000232" cy="10058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/>
            <a:r>
              <a:rPr sz="1900" b="1">
                <a:solidFill>
                  <a:srgbClr val="1D2B34"/>
                </a:solidFill>
                <a:latin typeface="Aptos"/>
              </a:rPr>
              <a:t>Recommendation: release LOT-CU-2607-A and LOT-CU-2607-C; conditionally release LOT-CU-2607-B under MAT-WVR-26-071; hold LOT-CU-2607-D and LOT-CU-2607-E.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11292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B63"/>
                </a:solidFill>
              </a:rPr>
              <a:t>Grid: 0.45 in margins, 12-column rhythm, 0.25 in baseline. IDs, totals, and statuses match source_register.xlsx and technical_findings_matrix.xlsx.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D3557"/>
                </a:solidFill>
              </a:rPr>
              <a:t>Source Coverage And Identity Resolution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87552"/>
            <a:ext cx="1965960" cy="530352"/>
          </a:xfrm>
          <a:prstGeom prst="rect">
            <a:avLst/>
          </a:prstGeom>
          <a:solidFill>
            <a:srgbClr val="A8DADC"/>
          </a:solidFill>
          <a:ln w="10160"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22333B"/>
                </a:solidFill>
              </a:rPr>
              <a:t>Supplier/Lab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987552"/>
            <a:ext cx="8686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C10100, E-Cu58, HB electro-Cu, eta-tin copper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37360"/>
            <a:ext cx="1965960" cy="530352"/>
          </a:xfrm>
          <a:prstGeom prst="rect">
            <a:avLst/>
          </a:prstGeom>
          <a:solidFill>
            <a:srgbClr val="A8DADC"/>
          </a:solidFill>
          <a:ln w="10160"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22333B"/>
                </a:solidFill>
              </a:rPr>
              <a:t>AFLOW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737360"/>
            <a:ext cx="8686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Ag-Al-Cu intermetallic top AUID aflow:aca47c434f9e2dc8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487168"/>
            <a:ext cx="1965960" cy="530352"/>
          </a:xfrm>
          <a:prstGeom prst="rect">
            <a:avLst/>
          </a:prstGeom>
          <a:solidFill>
            <a:srgbClr val="A8DADC"/>
          </a:solidFill>
          <a:ln w="10160"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22333B"/>
                </a:solidFill>
              </a:rPr>
              <a:t>COD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487168"/>
            <a:ext cx="8686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Pure Cu F m -3 m / SG 225; oxides and Cu3Sn comparators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236975"/>
            <a:ext cx="1965960" cy="530352"/>
          </a:xfrm>
          <a:prstGeom prst="rect">
            <a:avLst/>
          </a:prstGeom>
          <a:solidFill>
            <a:srgbClr val="A8DADC"/>
          </a:solidFill>
          <a:ln w="10160"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22333B"/>
                </a:solidFill>
              </a:rPr>
              <a:t>OQMD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236975"/>
            <a:ext cx="8686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Cu2O, CuO, Cu3Sn, Al-Cu, ZnCu, CuAu stability rows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986783"/>
            <a:ext cx="1965960" cy="530352"/>
          </a:xfrm>
          <a:prstGeom prst="rect">
            <a:avLst/>
          </a:prstGeom>
          <a:solidFill>
            <a:srgbClr val="A8DADC"/>
          </a:solidFill>
          <a:ln w="10160"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22333B"/>
                </a:solidFill>
              </a:rPr>
              <a:t>PubChem/NIST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3986783"/>
            <a:ext cx="86868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Copper identity support; sulfate and cuprate decoys rejected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5257800"/>
            <a:ext cx="5120640" cy="502920"/>
          </a:xfrm>
          <a:prstGeom prst="rect">
            <a:avLst/>
          </a:prstGeom>
          <a:solidFill>
            <a:srgbClr val="F1FAEE"/>
          </a:solidFill>
          <a:ln w="10160"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22333B"/>
                </a:solidFill>
              </a:rPr>
              <a:t>Cu^1O resolves to Cu2O / cuprite, not CuO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5257800"/>
            <a:ext cx="5212080" cy="502920"/>
          </a:xfrm>
          <a:prstGeom prst="rect">
            <a:avLst/>
          </a:prstGeom>
          <a:solidFill>
            <a:srgbClr val="F5F3F4"/>
          </a:solidFill>
          <a:ln w="10160"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22333B"/>
                </a:solidFill>
              </a:rPr>
              <a:t>Copper sulfate CID 24462 is identity-only, not OQMD stability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10528"/>
            <a:ext cx="11292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B63"/>
                </a:solidFill>
              </a:rPr>
              <a:t>Grid: 0.45 in margins, 12-column rhythm, 0.25 in baseline. IDs, totals, and statuses match source_register.xlsx and technical_findings_matrix.xlsx.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D3557"/>
                </a:solidFill>
              </a:rPr>
              <a:t>Resistance Margin And Scenario Sensitivity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85800" y="1143000"/>
          <a:ext cx="658368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ectangle 3"/>
          <p:cNvSpPr/>
          <p:nvPr/>
        </p:nvSpPr>
        <p:spPr>
          <a:xfrm>
            <a:off x="7635240" y="1234440"/>
            <a:ext cx="3794760" cy="841248"/>
          </a:xfrm>
          <a:prstGeom prst="rect">
            <a:avLst/>
          </a:prstGeom>
          <a:solidFill>
            <a:srgbClr val="F1FAEE"/>
          </a:solidFill>
          <a:ln w="10160"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2333B"/>
                </a:solidFill>
              </a:rPr>
              <a:t>Governed resistance
155.34 mOhm</a:t>
            </a:r>
          </a:p>
        </p:txBody>
      </p:sp>
      <p:sp>
        <p:nvSpPr>
          <p:cNvPr id="5" name="Rectangle 4"/>
          <p:cNvSpPr/>
          <p:nvPr/>
        </p:nvSpPr>
        <p:spPr>
          <a:xfrm>
            <a:off x="7635240" y="2331720"/>
            <a:ext cx="3794760" cy="841248"/>
          </a:xfrm>
          <a:prstGeom prst="rect">
            <a:avLst/>
          </a:prstGeom>
          <a:solidFill>
            <a:srgbClr val="E09F3E"/>
          </a:solidFill>
          <a:ln w="10160"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22333B"/>
                </a:solidFill>
              </a:rPr>
              <a:t>Margin to 160 mOhm
4.66 mOhm</a:t>
            </a:r>
          </a:p>
        </p:txBody>
      </p:sp>
      <p:sp>
        <p:nvSpPr>
          <p:cNvPr id="6" name="Rectangle 5"/>
          <p:cNvSpPr/>
          <p:nvPr/>
        </p:nvSpPr>
        <p:spPr>
          <a:xfrm>
            <a:off x="7635240" y="3429000"/>
            <a:ext cx="3794760" cy="841248"/>
          </a:xfrm>
          <a:prstGeom prst="rect">
            <a:avLst/>
          </a:prstGeom>
          <a:solidFill>
            <a:srgbClr val="F5F3F4"/>
          </a:solidFill>
          <a:ln w="10160"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2333B"/>
                </a:solidFill>
              </a:rPr>
              <a:t>Room-temp understatement
31.61 mOhm</a:t>
            </a:r>
          </a:p>
        </p:txBody>
      </p:sp>
      <p:sp>
        <p:nvSpPr>
          <p:cNvPr id="7" name="Rectangle 6"/>
          <p:cNvSpPr/>
          <p:nvPr/>
        </p:nvSpPr>
        <p:spPr>
          <a:xfrm>
            <a:off x="7635240" y="4526280"/>
            <a:ext cx="3794760" cy="841248"/>
          </a:xfrm>
          <a:prstGeom prst="rect">
            <a:avLst/>
          </a:prstGeom>
          <a:solidFill>
            <a:srgbClr val="E63946"/>
          </a:solidFill>
          <a:ln w="10160"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2333B"/>
                </a:solidFill>
              </a:rPr>
              <a:t>Hold unchanged:
sulfur + conductivity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376672"/>
            <a:ext cx="107442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22333B"/>
                </a:solidFill>
              </a:rPr>
              <a:t>Resistance chain: LR-COND-0726-06 rho=1.762 uOhm-cm; alpha=0.00393; temp=85 C; TRACE-HB-225 50 mm x 400 um; XR17 thickness=17.8 um; limit=160 mOhm.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11292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B63"/>
                </a:solidFill>
              </a:rPr>
              <a:t>Grid: 0.45 in margins, 12-column rhythm, 0.25 in baseline. IDs, totals, and statuses match source_register.xlsx and technical_findings_matrix.xlsx.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D3557"/>
                </a:solidFill>
              </a:rPr>
              <a:t>Ranked Findings And Actions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51560"/>
            <a:ext cx="1143000" cy="530352"/>
          </a:xfrm>
          <a:prstGeom prst="rect">
            <a:avLst/>
          </a:prstGeom>
          <a:solidFill>
            <a:srgbClr val="E63946"/>
          </a:solidFill>
          <a:ln w="10160"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2333B"/>
                </a:solidFill>
              </a:rPr>
              <a:t>RISK-01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874519" y="1051560"/>
            <a:ext cx="1600200" cy="530352"/>
          </a:xfrm>
          <a:prstGeom prst="rect">
            <a:avLst/>
          </a:prstGeom>
          <a:solidFill>
            <a:srgbClr val="F5F3F4"/>
          </a:solidFill>
          <a:ln w="10160"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2333B"/>
                </a:solidFill>
              </a:rPr>
              <a:t>LOT-CU-2607-D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11880" y="1051560"/>
            <a:ext cx="749808" cy="530352"/>
          </a:xfrm>
          <a:prstGeom prst="rect">
            <a:avLst/>
          </a:prstGeom>
          <a:solidFill>
            <a:srgbClr val="F5F3F4"/>
          </a:solidFill>
          <a:ln w="10160"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2333B"/>
                </a:solidFill>
              </a:rPr>
              <a:t>80</a:t>
            </a:r>
          </a:p>
        </p:txBody>
      </p:sp>
      <p:sp>
        <p:nvSpPr>
          <p:cNvPr id="6" name="Rectangle 5"/>
          <p:cNvSpPr/>
          <p:nvPr/>
        </p:nvSpPr>
        <p:spPr>
          <a:xfrm>
            <a:off x="4526280" y="1051560"/>
            <a:ext cx="1325880" cy="530352"/>
          </a:xfrm>
          <a:prstGeom prst="rect">
            <a:avLst/>
          </a:prstGeom>
          <a:solidFill>
            <a:srgbClr val="E63946"/>
          </a:solidFill>
          <a:ln w="10160"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2333B"/>
                </a:solidFill>
              </a:rPr>
              <a:t>Hold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051560"/>
            <a:ext cx="5440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/>
              <a:t>Sulfur 5.0 ppm &gt; 4.0; conductivity 97.85% IACS; 4.66 mOhm margin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874519"/>
            <a:ext cx="1143000" cy="530352"/>
          </a:xfrm>
          <a:prstGeom prst="rect">
            <a:avLst/>
          </a:prstGeom>
          <a:solidFill>
            <a:srgbClr val="E63946"/>
          </a:solidFill>
          <a:ln w="10160"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2333B"/>
                </a:solidFill>
              </a:rPr>
              <a:t>RISK-02</a:t>
            </a:r>
          </a:p>
        </p:txBody>
      </p:sp>
      <p:sp>
        <p:nvSpPr>
          <p:cNvPr id="9" name="Rectangle 8"/>
          <p:cNvSpPr/>
          <p:nvPr/>
        </p:nvSpPr>
        <p:spPr>
          <a:xfrm>
            <a:off x="1874519" y="1874519"/>
            <a:ext cx="1600200" cy="530352"/>
          </a:xfrm>
          <a:prstGeom prst="rect">
            <a:avLst/>
          </a:prstGeom>
          <a:solidFill>
            <a:srgbClr val="F5F3F4"/>
          </a:solidFill>
          <a:ln w="10160"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2333B"/>
                </a:solidFill>
              </a:rPr>
              <a:t>LOT-CU-2607-E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11880" y="1874519"/>
            <a:ext cx="749808" cy="530352"/>
          </a:xfrm>
          <a:prstGeom prst="rect">
            <a:avLst/>
          </a:prstGeom>
          <a:solidFill>
            <a:srgbClr val="F5F3F4"/>
          </a:solidFill>
          <a:ln w="10160"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2333B"/>
                </a:solidFill>
              </a:rPr>
              <a:t>40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80" y="1874519"/>
            <a:ext cx="1325880" cy="530352"/>
          </a:xfrm>
          <a:prstGeom prst="rect">
            <a:avLst/>
          </a:prstGeom>
          <a:solidFill>
            <a:srgbClr val="E63946"/>
          </a:solidFill>
          <a:ln w="10160"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2333B"/>
                </a:solidFill>
              </a:rPr>
              <a:t>Hold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874519"/>
            <a:ext cx="5440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/>
              <a:t>Lead 5.4 ppm &gt; 5.0 on intermetallic coupon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2697479"/>
            <a:ext cx="1143000" cy="530352"/>
          </a:xfrm>
          <a:prstGeom prst="rect">
            <a:avLst/>
          </a:prstGeom>
          <a:solidFill>
            <a:srgbClr val="E09F3E"/>
          </a:solidFill>
          <a:ln w="10160"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2333B"/>
                </a:solidFill>
              </a:rPr>
              <a:t>RISK-03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74519" y="2697479"/>
            <a:ext cx="1600200" cy="530352"/>
          </a:xfrm>
          <a:prstGeom prst="rect">
            <a:avLst/>
          </a:prstGeom>
          <a:solidFill>
            <a:srgbClr val="F5F3F4"/>
          </a:solidFill>
          <a:ln w="10160"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2333B"/>
                </a:solidFill>
              </a:rPr>
              <a:t>LOT-CU-2607-B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11880" y="2697479"/>
            <a:ext cx="749808" cy="530352"/>
          </a:xfrm>
          <a:prstGeom prst="rect">
            <a:avLst/>
          </a:prstGeom>
          <a:solidFill>
            <a:srgbClr val="F5F3F4"/>
          </a:solidFill>
          <a:ln w="10160"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2333B"/>
                </a:solidFill>
              </a:rPr>
              <a:t>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26280" y="2697479"/>
            <a:ext cx="1325880" cy="530352"/>
          </a:xfrm>
          <a:prstGeom prst="rect">
            <a:avLst/>
          </a:prstGeom>
          <a:solidFill>
            <a:srgbClr val="E09F3E"/>
          </a:solidFill>
          <a:ln w="10160"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2333B"/>
                </a:solidFill>
              </a:rPr>
              <a:t>Conditional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697479"/>
            <a:ext cx="544068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/>
              <a:t>Oxygen 6.2 ppm covered by MAT-WVR-26-071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4663440"/>
            <a:ext cx="5303520" cy="585216"/>
          </a:xfrm>
          <a:prstGeom prst="rect">
            <a:avLst/>
          </a:prstGeom>
          <a:solidFill>
            <a:srgbClr val="F1FAEE"/>
          </a:solidFill>
          <a:ln w="10160"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2333B"/>
                </a:solidFill>
              </a:rPr>
              <a:t>Owner: Meredith Chen -&gt; rerun sulfur and trace checks by 2026-07-13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4663440"/>
            <a:ext cx="5303520" cy="585216"/>
          </a:xfrm>
          <a:prstGeom prst="rect">
            <a:avLst/>
          </a:prstGeom>
          <a:solidFill>
            <a:srgbClr val="F1FAEE"/>
          </a:solidFill>
          <a:ln w="10160"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2333B"/>
                </a:solidFill>
              </a:rPr>
              <a:t>Owner: Evan Brooks -&gt; supplier lead RCA by 2026-07-12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510528"/>
            <a:ext cx="11292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B63"/>
                </a:solidFill>
              </a:rPr>
              <a:t>Grid: 0.45 in margins, 12-column rhythm, 0.25 in baseline. IDs, totals, and statuses match source_register.xlsx and technical_findings_matrix.xlsx.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Copper Qualification Readout</dc:title>
  <dc:subject>Visual release readout for July copper conductor qualification</dc:subject>
  <dc:creator>Materials quality analyst</dc:creator>
  <cp:keywords>afo.v1.chemical.pptx.release_readout.cc9a6e5ec1e8, copper, qualification, release readout, replacement complete</cp:keywords>
  <dc:description>Sector: chemicals and process industries; intended use: Friday release readout; format: PPTX; blueprint: release_readout; visual system: controlled-grid; variation: cc9a6e5ec1e8; replacement status: complete.</dc:description>
  <cp:lastModifiedBy>Materials quality analyst</cp:lastModifiedBy>
  <cp:revision>1</cp:revision>
  <dcterms:created xsi:type="dcterms:W3CDTF">2026-07-11T18:58:56Z</dcterms:created>
  <dcterms:modified xsi:type="dcterms:W3CDTF">2026-07-11T18:58:56Z</dcterms:modified>
  <cp:category>Chemical process materials qualification</cp:category>
</cp:coreProperties>
</file>